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60" r:id="rId5"/>
    <p:sldId id="261" r:id="rId6"/>
    <p:sldId id="263" r:id="rId7"/>
    <p:sldId id="264" r:id="rId8"/>
    <p:sldId id="265" r:id="rId9"/>
    <p:sldId id="267" r:id="rId10"/>
    <p:sldId id="269" r:id="rId11"/>
    <p:sldId id="271" r:id="rId12"/>
    <p:sldId id="273" r:id="rId13"/>
    <p:sldId id="275" r:id="rId14"/>
    <p:sldId id="277" r:id="rId15"/>
    <p:sldId id="279" r:id="rId16"/>
    <p:sldId id="280" r:id="rId17"/>
  </p:sldIdLst>
  <p:sldSz cx="12192000" cy="6858000"/>
  <p:notesSz cx="6858000" cy="12192000"/>
  <p:embeddedFontLst>
    <p:embeddedFont>
      <p:font typeface="Calibri" panose="020F0502020204030204" charset="0"/>
      <p:regular r:id="rId21"/>
      <p:bold r:id="rId22"/>
      <p:italic r:id="rId23"/>
      <p:boldItalic r:id="rId24"/>
    </p:embeddedFont>
    <p:embeddedFont>
      <p:font typeface="等线" panose="02010600030101010101" charset="-122"/>
      <p:regular r:id="rId25"/>
    </p:embeddedFont>
  </p:embeddedFontLst>
  <p:custDataLst>
    <p:tags r:id="rId26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gs" Target="tags/tag25.xml"/><Relationship Id="rId25" Type="http://schemas.openxmlformats.org/officeDocument/2006/relationships/font" Target="fonts/font5.fntdata"/><Relationship Id="rId24" Type="http://schemas.openxmlformats.org/officeDocument/2006/relationships/font" Target="fonts/font4.fntdata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项目愿景与痛点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技术架构总览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核心功能模块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A2A多智能体设计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MCP工具生态系统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-122"/>
                <a:ea typeface="MiSans" pitchFamily="34" charset="-122"/>
                <a:sym typeface="+mn-ea"/>
              </a:rPr>
              <a:t>端到端业务流程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MiSans" pitchFamily="34" charset="-122"/>
              <a:ea typeface="MiSans" pitchFamily="34" charset="-122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-122"/>
                <a:ea typeface="MiSans" pitchFamily="34" charset="-122"/>
                <a:sym typeface="+mn-ea"/>
              </a:rPr>
              <a:t>技术难点与解决方案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技术栈与关键技术实现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开发路线与价值展望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4" Type="http://schemas.openxmlformats.org/officeDocument/2006/relationships/notesSlide" Target="../notesSlides/notesSlide7.xml"/><Relationship Id="rId23" Type="http://schemas.openxmlformats.org/officeDocument/2006/relationships/slideLayout" Target="../slideLayouts/slideLayout1.xml"/><Relationship Id="rId22" Type="http://schemas.openxmlformats.org/officeDocument/2006/relationships/tags" Target="../tags/tag20.xml"/><Relationship Id="rId21" Type="http://schemas.openxmlformats.org/officeDocument/2006/relationships/tags" Target="../tags/tag19.xml"/><Relationship Id="rId20" Type="http://schemas.openxmlformats.org/officeDocument/2006/relationships/tags" Target="../tags/tag18.xml"/><Relationship Id="rId2" Type="http://schemas.openxmlformats.org/officeDocument/2006/relationships/tags" Target="../tags/tag1.xml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5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4.png"/><Relationship Id="rId4" Type="http://schemas.openxmlformats.org/officeDocument/2006/relationships/image" Target="../media/image15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11.png"/><Relationship Id="rId1" Type="http://schemas.openxmlformats.org/officeDocument/2006/relationships/image" Target="../media/image24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1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image" Target="../media/image14.png"/><Relationship Id="rId5" Type="http://schemas.openxmlformats.org/officeDocument/2006/relationships/image" Target="../media/image15.png"/><Relationship Id="rId4" Type="http://schemas.openxmlformats.org/officeDocument/2006/relationships/image" Target="../media/image30.png"/><Relationship Id="rId3" Type="http://schemas.openxmlformats.org/officeDocument/2006/relationships/image" Target="../media/image2.png"/><Relationship Id="rId2" Type="http://schemas.openxmlformats.org/officeDocument/2006/relationships/image" Target="../media/image29.png"/><Relationship Id="rId12" Type="http://schemas.openxmlformats.org/officeDocument/2006/relationships/notesSlide" Target="../notesSlides/notesSlide13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24.xml"/><Relationship Id="rId1" Type="http://schemas.openxmlformats.org/officeDocument/2006/relationships/image" Target="../media/image28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9-d2sggte1bb2p4onbon7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00" y="0"/>
            <a:ext cx="10287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72390" y="-84455"/>
            <a:ext cx="13742035" cy="7143115"/>
          </a:xfrm>
          <a:prstGeom prst="rect">
            <a:avLst/>
          </a:prstGeom>
          <a:gradFill flip="none" rotWithShape="1">
            <a:gsLst>
              <a:gs pos="0">
                <a:srgbClr val="EAEEF4"/>
              </a:gs>
              <a:gs pos="14000">
                <a:srgbClr val="EFF3F7"/>
              </a:gs>
              <a:gs pos="68000">
                <a:srgbClr val="F3F7FA">
                  <a:alpha val="0"/>
                </a:srgbClr>
              </a:gs>
              <a:gs pos="100000">
                <a:srgbClr val="F3F7FA">
                  <a:alpha val="0"/>
                </a:srgbClr>
              </a:gs>
            </a:gsLst>
            <a:lin ang="0" scaled="1"/>
          </a:gradFill>
        </p:spPr>
      </p:sp>
      <p:sp>
        <p:nvSpPr>
          <p:cNvPr id="4" name="Text 1"/>
          <p:cNvSpPr/>
          <p:nvPr/>
        </p:nvSpPr>
        <p:spPr>
          <a:xfrm>
            <a:off x="-72390" y="-84455"/>
            <a:ext cx="13742035" cy="71431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26745" y="6151880"/>
            <a:ext cx="4345305" cy="33147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Text 3"/>
          <p:cNvSpPr/>
          <p:nvPr/>
        </p:nvSpPr>
        <p:spPr>
          <a:xfrm>
            <a:off x="626745" y="6151880"/>
            <a:ext cx="4345305" cy="33147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汇报人：</a:t>
            </a:r>
            <a:r>
              <a:rPr lang="zh-CN" alt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马佳辉</a:t>
            </a:r>
            <a:endParaRPr lang="zh-CN" altLang="en-US" sz="16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211695" y="6116955"/>
            <a:ext cx="4448810" cy="36639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汇报日期：2025/11</a:t>
            </a: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/25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1450859" y="42888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50859" y="42888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1450859" y="52585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50859" y="52585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1450859" y="62282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450859" y="622829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099607" y="629319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pic>
        <p:nvPicPr>
          <p:cNvPr id="15" name="Image 1" descr="https://kimi-img.moonshot.cn/pub/slides/slides_tmpl/image/25-09-04-11:33:04-d2sggs61bb2p4onbomu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16200000">
            <a:off x="1080135" y="44450"/>
            <a:ext cx="262890" cy="117030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26745" y="2816860"/>
            <a:ext cx="7075805" cy="14452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4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</a:t>
            </a:r>
            <a:r>
              <a:rPr lang="en-US" sz="4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A2A-MCP个人智能健康助手</a:t>
            </a:r>
            <a:r>
              <a:rPr lang="zh-CN" altLang="en-US" sz="4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设计与实现</a:t>
            </a:r>
            <a:endParaRPr lang="zh-CN" altLang="en-US" sz="44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6-d2sggsm1bb2p4onbon1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6298" y="657860"/>
            <a:ext cx="10479405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医疗信息碎片化与沟通低效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67201" y="3391074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7924801" y="3391074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</p:sp>
      <p:pic>
        <p:nvPicPr>
          <p:cNvPr id="6" name="Image 1" descr="https://kimi-img.moonshot.cn/pub/slides/slides_tmpl/image/25-09-04-11:33:04-d2sggs61bb2p4onbomug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7" name="Image 2" descr="https://kimi-img.moonshot.cn/pub/slides/slides_tmpl/image/25-09-04-11:33:04-d2sggs61bb2p4onbomug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pic>
        <p:nvPicPr>
          <p:cNvPr id="8" name="Image 3" descr="https://kimi-img.moonshot.cn/pub/slides/slides_tmpl/image/25-09-04-11:33:16-d2sggv61bb2p4onbonkg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59055" y="5581650"/>
            <a:ext cx="12192000" cy="131445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127760" y="2645410"/>
            <a:ext cx="2853690" cy="831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医疗信息碎片化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1127760" y="3359150"/>
            <a:ext cx="2853055" cy="25158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当前医疗信息分散在病历、检查报告、用药记录等多个载体，患者难以形成统一视图，导致信息管理困难。</a:t>
            </a: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4728210" y="2085975"/>
            <a:ext cx="2853690" cy="831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医患沟通效率低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4728210" y="2799715"/>
            <a:ext cx="2853055" cy="25158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就诊时医患信息传递不完整，患者无法快速准确地向医生提供关键信息，影响诊断效率。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8328025" y="2777490"/>
            <a:ext cx="2853690" cy="831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健康管理困难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8328025" y="3491230"/>
            <a:ext cx="2853055" cy="25158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缺乏系统化的个人健康档案，难以实现全生命周期管理，影响健康管理的连贯性和有效性。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6-d2sggsm1bb2p4onbon1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13335" y="2862580"/>
            <a:ext cx="7389495" cy="2708275"/>
          </a:xfrm>
          <a:prstGeom prst="rect">
            <a:avLst/>
          </a:prstGeom>
          <a:gradFill flip="none" rotWithShape="1">
            <a:gsLst>
              <a:gs pos="0">
                <a:srgbClr val="2F5BEE">
                  <a:alpha val="13000"/>
                </a:srgbClr>
              </a:gs>
              <a:gs pos="13000">
                <a:srgbClr val="2F5BEE">
                  <a:alpha val="13000"/>
                </a:srgbClr>
              </a:gs>
              <a:gs pos="57000">
                <a:srgbClr val="2F5BEE">
                  <a:alpha val="0"/>
                </a:srgbClr>
              </a:gs>
              <a:gs pos="100000">
                <a:srgbClr val="2F5BEE">
                  <a:alpha val="0"/>
                </a:srgbClr>
              </a:gs>
            </a:gsLst>
            <a:lin ang="0" scaled="1"/>
          </a:gradFill>
        </p:spPr>
      </p:sp>
      <p:sp>
        <p:nvSpPr>
          <p:cNvPr id="4" name="Text 1"/>
          <p:cNvSpPr/>
          <p:nvPr/>
        </p:nvSpPr>
        <p:spPr>
          <a:xfrm>
            <a:off x="-13335" y="2862580"/>
            <a:ext cx="7389495" cy="27082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5" name="Image 1" descr="https://kimi-img.moonshot.cn/pub/slides/slides_tmpl/image/25-09-04-11:33:11-d2sggtu1bb2p4onbonc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3870" y="1052195"/>
            <a:ext cx="5708015" cy="51879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58850" y="1575435"/>
            <a:ext cx="8137525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统一知识库与全周期管理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9" name="Image 2" descr="https://kimi-img.moonshot.cn/pub/slides/slides_tmpl/image/25-09-04-11:33:04-d2sggs61bb2p4onbomug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20" name="Image 3" descr="https://kimi-img.moonshot.cn/pub/slides/slides_tmpl/image/25-09-04-11:33:04-d2sggs61bb2p4onbomug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Text 16"/>
          <p:cNvSpPr/>
          <p:nvPr/>
        </p:nvSpPr>
        <p:spPr>
          <a:xfrm>
            <a:off x="680802" y="2967990"/>
            <a:ext cx="5620385" cy="4610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577FD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解决方案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80167" y="3545522"/>
            <a:ext cx="5621020" cy="17360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algn="just" fontAlgn="auto">
              <a:lnSpc>
                <a:spcPct val="10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针对信息碎片化，项目提出构建统一的个人健康知识库，整合多源数据；通过智能辅助手段提升医患沟通效率；最终实现对个人健康从预防、诊疗到康复的全生命周期管理。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576149" y="4361180"/>
            <a:ext cx="5553936" cy="12096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场景：45岁男性，2型糖尿病患者，需要定期监测和管理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系统功能展示：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- 用药提醒：定时推送二甲双胍服药提醒（500mg，每日两次）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- 饮食建议：根据血糖数据推荐低GI食物组合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- 就诊辅助：生成结构化就诊摘要，包含近期血糖趋势和用药记录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9-d2sggte1bb2p4onbon7g.jpg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1:33:13-d2sggue1bb2p4onbon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9745"/>
            <a:ext cx="12192000" cy="58610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2155" y="753110"/>
            <a:ext cx="10649585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A2A-MCP双核架构解析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09-04-11:33:15-d2sgguu1bb2p4onbongg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2615883" y="1976755"/>
            <a:ext cx="1348105" cy="1344930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9-04-11:33:14-d2sggum1bb2p4onbon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4748" y="2197418"/>
            <a:ext cx="1244600" cy="1193800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09-04-11:33:08-d2sggt61bb2p4onbon5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700000">
            <a:off x="3609023" y="2885440"/>
            <a:ext cx="530225" cy="483235"/>
          </a:xfrm>
          <a:prstGeom prst="rect">
            <a:avLst/>
          </a:prstGeom>
        </p:spPr>
      </p:pic>
      <p:sp>
        <p:nvSpPr>
          <p:cNvPr id="8" name="Shape 1"/>
          <p:cNvSpPr/>
          <p:nvPr/>
        </p:nvSpPr>
        <p:spPr>
          <a:xfrm>
            <a:off x="6104891" y="2514139"/>
            <a:ext cx="0" cy="2578100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2F5BEE">
                    <a:alpha val="61000"/>
                  </a:srgbClr>
                </a:gs>
                <a:gs pos="100000">
                  <a:srgbClr val="8DD4F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olid"/>
            <a:headEnd type="none"/>
            <a:tailEnd type="none"/>
          </a:ln>
        </p:spPr>
      </p:sp>
      <p:pic>
        <p:nvPicPr>
          <p:cNvPr id="9" name="Image 5" descr="https://kimi-img.moonshot.cn/pub/slides/slides_tmpl/image/25-09-04-11:33:15-d2sgguu1bb2p4onbongg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8483600" y="1976755"/>
            <a:ext cx="1348105" cy="1344930"/>
          </a:xfrm>
          <a:prstGeom prst="rect">
            <a:avLst/>
          </a:prstGeom>
        </p:spPr>
      </p:pic>
      <p:pic>
        <p:nvPicPr>
          <p:cNvPr id="10" name="Image 6" descr="https://kimi-img.moonshot.cn/pub/slides/slides_tmpl/image/25-09-04-11:33:14-d2sggum1bb2p4onbon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0850" y="2188143"/>
            <a:ext cx="1244600" cy="1193800"/>
          </a:xfrm>
          <a:prstGeom prst="rect">
            <a:avLst/>
          </a:prstGeom>
        </p:spPr>
      </p:pic>
      <p:pic>
        <p:nvPicPr>
          <p:cNvPr id="11" name="Image 7" descr="https://kimi-img.moonshot.cn/pub/slides/slides_tmpl/image/25-09-04-11:33:08-d2sggt61bb2p4onbon5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700000">
            <a:off x="9476740" y="2885440"/>
            <a:ext cx="530225" cy="483235"/>
          </a:xfrm>
          <a:prstGeom prst="rect">
            <a:avLst/>
          </a:prstGeom>
        </p:spPr>
      </p:pic>
      <p:sp>
        <p:nvSpPr>
          <p:cNvPr id="12" name="Text 2"/>
          <p:cNvSpPr/>
          <p:nvPr/>
        </p:nvSpPr>
        <p:spPr>
          <a:xfrm>
            <a:off x="2913063" y="2289810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4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3"/>
          <p:cNvSpPr/>
          <p:nvPr/>
        </p:nvSpPr>
        <p:spPr>
          <a:xfrm>
            <a:off x="671830" y="3678555"/>
            <a:ext cx="4998085" cy="3854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A2A框架</a:t>
            </a:r>
            <a:endParaRPr lang="en-US" sz="1600" dirty="0"/>
          </a:p>
        </p:txBody>
      </p:sp>
      <p:sp>
        <p:nvSpPr>
          <p:cNvPr id="14" name="Text 4"/>
          <p:cNvSpPr/>
          <p:nvPr/>
        </p:nvSpPr>
        <p:spPr>
          <a:xfrm>
            <a:off x="1129348" y="4100830"/>
            <a:ext cx="4083050" cy="2120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系统采用A2A框架驱动多智能体协同工作流，实现模块化、可扩展、安全可靠的设计，为复杂任务提供高效解决方案。</a:t>
            </a:r>
            <a:endParaRPr lang="en-US" sz="1600" dirty="0"/>
          </a:p>
        </p:txBody>
      </p:sp>
      <p:sp>
        <p:nvSpPr>
          <p:cNvPr id="15" name="Text 5"/>
          <p:cNvSpPr/>
          <p:nvPr/>
        </p:nvSpPr>
        <p:spPr>
          <a:xfrm>
            <a:off x="8693150" y="2289810"/>
            <a:ext cx="928370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4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6"/>
          <p:cNvSpPr/>
          <p:nvPr/>
        </p:nvSpPr>
        <p:spPr>
          <a:xfrm>
            <a:off x="6539865" y="3678555"/>
            <a:ext cx="4998085" cy="3854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MCP协议</a:t>
            </a:r>
            <a:endParaRPr lang="en-US" sz="1600" dirty="0"/>
          </a:p>
        </p:txBody>
      </p:sp>
      <p:sp>
        <p:nvSpPr>
          <p:cNvPr id="17" name="Text 7"/>
          <p:cNvSpPr/>
          <p:nvPr/>
        </p:nvSpPr>
        <p:spPr>
          <a:xfrm>
            <a:off x="6997383" y="4100830"/>
            <a:ext cx="4083050" cy="2120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MCP协议提供标准化工具调用接口，确保各组件之间的无缝协作，提升系统的整体性能和稳定性。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5:00-d2sjfh61bb2p4onbpvv0.jpg"/>
          <p:cNvPicPr>
            <a:picLocks noChangeAspect="1"/>
          </p:cNvPicPr>
          <p:nvPr/>
        </p:nvPicPr>
        <p:blipFill>
          <a:blip r:embed="rId1">
            <a:alphaModFix amt="28000"/>
          </a:blip>
          <a:stretch>
            <a:fillRect/>
          </a:stretch>
        </p:blipFill>
        <p:spPr>
          <a:xfrm>
            <a:off x="-90805" y="-107950"/>
            <a:ext cx="12311380" cy="69786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104870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3C5A85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架构图示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714500" y="711360"/>
            <a:ext cx="8763000" cy="609600"/>
          </a:xfrm>
          <a:custGeom>
            <a:avLst/>
            <a:gdLst/>
            <a:ahLst/>
            <a:cxnLst/>
            <a:rect l="l" t="t" r="r" b="b"/>
            <a:pathLst>
              <a:path w="8763000" h="609600">
                <a:moveTo>
                  <a:pt x="101602" y="0"/>
                </a:moveTo>
                <a:lnTo>
                  <a:pt x="8661398" y="0"/>
                </a:lnTo>
                <a:cubicBezTo>
                  <a:pt x="8717511" y="0"/>
                  <a:pt x="8763000" y="45489"/>
                  <a:pt x="8763000" y="101602"/>
                </a:cubicBezTo>
                <a:lnTo>
                  <a:pt x="8763000" y="507998"/>
                </a:lnTo>
                <a:cubicBezTo>
                  <a:pt x="8763000" y="564111"/>
                  <a:pt x="8717511" y="609600"/>
                  <a:pt x="86613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9AB3D4">
              <a:alpha val="30196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1816100" y="863760"/>
            <a:ext cx="8559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C5A85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用户前端 (React)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089650" y="1422560"/>
            <a:ext cx="12700" cy="304800"/>
          </a:xfrm>
          <a:custGeom>
            <a:avLst/>
            <a:gdLst/>
            <a:ahLst/>
            <a:cxnLst/>
            <a:rect l="l" t="t" r="r" b="b"/>
            <a:pathLst>
              <a:path w="12700" h="304800">
                <a:moveTo>
                  <a:pt x="0" y="0"/>
                </a:moveTo>
                <a:lnTo>
                  <a:pt x="12700" y="0"/>
                </a:lnTo>
                <a:lnTo>
                  <a:pt x="127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678BC7"/>
          </a:solidFill>
        </p:spPr>
      </p:sp>
      <p:sp>
        <p:nvSpPr>
          <p:cNvPr id="7" name="Text 4"/>
          <p:cNvSpPr/>
          <p:nvPr/>
        </p:nvSpPr>
        <p:spPr>
          <a:xfrm>
            <a:off x="4629944" y="1828960"/>
            <a:ext cx="1409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78BC7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WebSocket/SSE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171406" y="1854360"/>
            <a:ext cx="101600" cy="203200"/>
          </a:xfrm>
          <a:custGeom>
            <a:avLst/>
            <a:gdLst/>
            <a:ahLst/>
            <a:cxnLst/>
            <a:rect l="l" t="t" r="r" b="b"/>
            <a:pathLst>
              <a:path w="101600" h="203200">
                <a:moveTo>
                  <a:pt x="59769" y="-8969"/>
                </a:moveTo>
                <a:cubicBezTo>
                  <a:pt x="54808" y="-13930"/>
                  <a:pt x="46752" y="-13930"/>
                  <a:pt x="41791" y="-8969"/>
                </a:cubicBezTo>
                <a:lnTo>
                  <a:pt x="3691" y="29131"/>
                </a:lnTo>
                <a:cubicBezTo>
                  <a:pt x="-1270" y="34092"/>
                  <a:pt x="-1270" y="42148"/>
                  <a:pt x="3691" y="47109"/>
                </a:cubicBezTo>
                <a:cubicBezTo>
                  <a:pt x="8652" y="52070"/>
                  <a:pt x="16708" y="52070"/>
                  <a:pt x="21669" y="47109"/>
                </a:cubicBezTo>
                <a:lnTo>
                  <a:pt x="38100" y="30678"/>
                </a:lnTo>
                <a:lnTo>
                  <a:pt x="38100" y="172522"/>
                </a:lnTo>
                <a:lnTo>
                  <a:pt x="21669" y="156131"/>
                </a:lnTo>
                <a:cubicBezTo>
                  <a:pt x="16708" y="151170"/>
                  <a:pt x="8652" y="151170"/>
                  <a:pt x="3691" y="156131"/>
                </a:cubicBezTo>
                <a:cubicBezTo>
                  <a:pt x="-1270" y="161092"/>
                  <a:pt x="-1270" y="169148"/>
                  <a:pt x="3691" y="174109"/>
                </a:cubicBezTo>
                <a:lnTo>
                  <a:pt x="41791" y="212209"/>
                </a:lnTo>
                <a:cubicBezTo>
                  <a:pt x="44172" y="214590"/>
                  <a:pt x="47387" y="215940"/>
                  <a:pt x="50760" y="215940"/>
                </a:cubicBezTo>
                <a:cubicBezTo>
                  <a:pt x="54134" y="215940"/>
                  <a:pt x="57348" y="214590"/>
                  <a:pt x="59730" y="212209"/>
                </a:cubicBezTo>
                <a:lnTo>
                  <a:pt x="97830" y="174109"/>
                </a:lnTo>
                <a:cubicBezTo>
                  <a:pt x="102791" y="169148"/>
                  <a:pt x="102791" y="161092"/>
                  <a:pt x="97830" y="156131"/>
                </a:cubicBezTo>
                <a:cubicBezTo>
                  <a:pt x="92869" y="151170"/>
                  <a:pt x="84812" y="151170"/>
                  <a:pt x="79851" y="156131"/>
                </a:cubicBezTo>
                <a:lnTo>
                  <a:pt x="63421" y="172561"/>
                </a:lnTo>
                <a:lnTo>
                  <a:pt x="63421" y="30678"/>
                </a:lnTo>
                <a:lnTo>
                  <a:pt x="79851" y="47109"/>
                </a:lnTo>
                <a:cubicBezTo>
                  <a:pt x="84812" y="52070"/>
                  <a:pt x="92869" y="52070"/>
                  <a:pt x="97830" y="47109"/>
                </a:cubicBezTo>
                <a:cubicBezTo>
                  <a:pt x="102791" y="42148"/>
                  <a:pt x="102791" y="34092"/>
                  <a:pt x="97830" y="29131"/>
                </a:cubicBezTo>
                <a:lnTo>
                  <a:pt x="59730" y="-8969"/>
                </a:lnTo>
                <a:close/>
              </a:path>
            </a:pathLst>
          </a:custGeom>
          <a:solidFill>
            <a:srgbClr val="678BC7"/>
          </a:solidFill>
        </p:spPr>
      </p:sp>
      <p:sp>
        <p:nvSpPr>
          <p:cNvPr id="9" name="Text 6"/>
          <p:cNvSpPr/>
          <p:nvPr/>
        </p:nvSpPr>
        <p:spPr>
          <a:xfrm>
            <a:off x="6406356" y="1828960"/>
            <a:ext cx="1155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78BC7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双向实时通信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089650" y="2184560"/>
            <a:ext cx="12700" cy="304800"/>
          </a:xfrm>
          <a:custGeom>
            <a:avLst/>
            <a:gdLst/>
            <a:ahLst/>
            <a:cxnLst/>
            <a:rect l="l" t="t" r="r" b="b"/>
            <a:pathLst>
              <a:path w="12700" h="304800">
                <a:moveTo>
                  <a:pt x="0" y="0"/>
                </a:moveTo>
                <a:lnTo>
                  <a:pt x="12700" y="0"/>
                </a:lnTo>
                <a:lnTo>
                  <a:pt x="127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678BC7"/>
          </a:solidFill>
        </p:spPr>
      </p:sp>
      <p:sp>
        <p:nvSpPr>
          <p:cNvPr id="11" name="Shape 8"/>
          <p:cNvSpPr/>
          <p:nvPr/>
        </p:nvSpPr>
        <p:spPr>
          <a:xfrm>
            <a:off x="1714500" y="2590960"/>
            <a:ext cx="8763000" cy="609600"/>
          </a:xfrm>
          <a:custGeom>
            <a:avLst/>
            <a:gdLst/>
            <a:ahLst/>
            <a:cxnLst/>
            <a:rect l="l" t="t" r="r" b="b"/>
            <a:pathLst>
              <a:path w="8763000" h="609600">
                <a:moveTo>
                  <a:pt x="101602" y="0"/>
                </a:moveTo>
                <a:lnTo>
                  <a:pt x="8661398" y="0"/>
                </a:lnTo>
                <a:cubicBezTo>
                  <a:pt x="8717511" y="0"/>
                  <a:pt x="8763000" y="45489"/>
                  <a:pt x="8763000" y="101602"/>
                </a:cubicBezTo>
                <a:lnTo>
                  <a:pt x="8763000" y="507998"/>
                </a:lnTo>
                <a:cubicBezTo>
                  <a:pt x="8763000" y="564111"/>
                  <a:pt x="8717511" y="609600"/>
                  <a:pt x="86613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9AB3D4">
              <a:alpha val="30196"/>
            </a:srgbClr>
          </a:solidFill>
        </p:spPr>
      </p:sp>
      <p:sp>
        <p:nvSpPr>
          <p:cNvPr id="12" name="Text 9"/>
          <p:cNvSpPr/>
          <p:nvPr/>
        </p:nvSpPr>
        <p:spPr>
          <a:xfrm>
            <a:off x="1816100" y="2743360"/>
            <a:ext cx="8559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C5A85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API网关 (FastAPI)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089650" y="3302160"/>
            <a:ext cx="12700" cy="304800"/>
          </a:xfrm>
          <a:custGeom>
            <a:avLst/>
            <a:gdLst/>
            <a:ahLst/>
            <a:cxnLst/>
            <a:rect l="l" t="t" r="r" b="b"/>
            <a:pathLst>
              <a:path w="12700" h="304800">
                <a:moveTo>
                  <a:pt x="0" y="0"/>
                </a:moveTo>
                <a:lnTo>
                  <a:pt x="12700" y="0"/>
                </a:lnTo>
                <a:lnTo>
                  <a:pt x="127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678BC7"/>
          </a:solidFill>
        </p:spPr>
      </p:sp>
      <p:sp>
        <p:nvSpPr>
          <p:cNvPr id="14" name="Shape 11"/>
          <p:cNvSpPr/>
          <p:nvPr/>
        </p:nvSpPr>
        <p:spPr>
          <a:xfrm>
            <a:off x="254000" y="3708560"/>
            <a:ext cx="11684000" cy="965200"/>
          </a:xfrm>
          <a:custGeom>
            <a:avLst/>
            <a:gdLst/>
            <a:ahLst/>
            <a:cxnLst/>
            <a:rect l="l" t="t" r="r" b="b"/>
            <a:pathLst>
              <a:path w="11684000" h="965200">
                <a:moveTo>
                  <a:pt x="101597" y="0"/>
                </a:moveTo>
                <a:lnTo>
                  <a:pt x="11582403" y="0"/>
                </a:lnTo>
                <a:cubicBezTo>
                  <a:pt x="11638513" y="0"/>
                  <a:pt x="11684000" y="45487"/>
                  <a:pt x="11684000" y="101597"/>
                </a:cubicBezTo>
                <a:lnTo>
                  <a:pt x="11684000" y="863603"/>
                </a:lnTo>
                <a:cubicBezTo>
                  <a:pt x="11684000" y="919713"/>
                  <a:pt x="11638513" y="965200"/>
                  <a:pt x="11582403" y="965200"/>
                </a:cubicBezTo>
                <a:lnTo>
                  <a:pt x="101597" y="965200"/>
                </a:lnTo>
                <a:cubicBezTo>
                  <a:pt x="45487" y="965200"/>
                  <a:pt x="0" y="919713"/>
                  <a:pt x="0" y="8636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3C5A85">
              <a:alpha val="94000"/>
            </a:srgbClr>
          </a:solidFill>
        </p:spPr>
      </p:sp>
      <p:sp>
        <p:nvSpPr>
          <p:cNvPr id="15" name="Text 12"/>
          <p:cNvSpPr/>
          <p:nvPr/>
        </p:nvSpPr>
        <p:spPr>
          <a:xfrm>
            <a:off x="400050" y="3911760"/>
            <a:ext cx="11391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A2A 智能体层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19100" y="4267358"/>
            <a:ext cx="113538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HealthRecordsManager / HealthAdvisor / MedicationReminder / VisitSummaryGenerator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089650" y="4775200"/>
            <a:ext cx="12700" cy="304800"/>
          </a:xfrm>
          <a:custGeom>
            <a:avLst/>
            <a:gdLst/>
            <a:ahLst/>
            <a:cxnLst/>
            <a:rect l="l" t="t" r="r" b="b"/>
            <a:pathLst>
              <a:path w="12700" h="304800">
                <a:moveTo>
                  <a:pt x="0" y="0"/>
                </a:moveTo>
                <a:lnTo>
                  <a:pt x="12700" y="0"/>
                </a:lnTo>
                <a:lnTo>
                  <a:pt x="127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678BC7"/>
          </a:solidFill>
        </p:spPr>
      </p:sp>
      <p:sp>
        <p:nvSpPr>
          <p:cNvPr id="18" name="Text 15"/>
          <p:cNvSpPr/>
          <p:nvPr/>
        </p:nvSpPr>
        <p:spPr>
          <a:xfrm>
            <a:off x="4837748" y="5181600"/>
            <a:ext cx="812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78BC7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MCP协议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785803" y="5207000"/>
            <a:ext cx="101600" cy="203200"/>
          </a:xfrm>
          <a:custGeom>
            <a:avLst/>
            <a:gdLst/>
            <a:ahLst/>
            <a:cxnLst/>
            <a:rect l="l" t="t" r="r" b="b"/>
            <a:pathLst>
              <a:path w="101600" h="203200">
                <a:moveTo>
                  <a:pt x="59769" y="-8969"/>
                </a:moveTo>
                <a:cubicBezTo>
                  <a:pt x="54808" y="-13930"/>
                  <a:pt x="46752" y="-13930"/>
                  <a:pt x="41791" y="-8969"/>
                </a:cubicBezTo>
                <a:lnTo>
                  <a:pt x="3691" y="29131"/>
                </a:lnTo>
                <a:cubicBezTo>
                  <a:pt x="-1270" y="34092"/>
                  <a:pt x="-1270" y="42148"/>
                  <a:pt x="3691" y="47109"/>
                </a:cubicBezTo>
                <a:cubicBezTo>
                  <a:pt x="8652" y="52070"/>
                  <a:pt x="16708" y="52070"/>
                  <a:pt x="21669" y="47109"/>
                </a:cubicBezTo>
                <a:lnTo>
                  <a:pt x="38100" y="30678"/>
                </a:lnTo>
                <a:lnTo>
                  <a:pt x="38100" y="172522"/>
                </a:lnTo>
                <a:lnTo>
                  <a:pt x="21669" y="156131"/>
                </a:lnTo>
                <a:cubicBezTo>
                  <a:pt x="16708" y="151170"/>
                  <a:pt x="8652" y="151170"/>
                  <a:pt x="3691" y="156131"/>
                </a:cubicBezTo>
                <a:cubicBezTo>
                  <a:pt x="-1270" y="161092"/>
                  <a:pt x="-1270" y="169148"/>
                  <a:pt x="3691" y="174109"/>
                </a:cubicBezTo>
                <a:lnTo>
                  <a:pt x="41791" y="212209"/>
                </a:lnTo>
                <a:cubicBezTo>
                  <a:pt x="44172" y="214590"/>
                  <a:pt x="47387" y="215940"/>
                  <a:pt x="50760" y="215940"/>
                </a:cubicBezTo>
                <a:cubicBezTo>
                  <a:pt x="54134" y="215940"/>
                  <a:pt x="57348" y="214590"/>
                  <a:pt x="59730" y="212209"/>
                </a:cubicBezTo>
                <a:lnTo>
                  <a:pt x="97830" y="174109"/>
                </a:lnTo>
                <a:cubicBezTo>
                  <a:pt x="102791" y="169148"/>
                  <a:pt x="102791" y="161092"/>
                  <a:pt x="97830" y="156131"/>
                </a:cubicBezTo>
                <a:cubicBezTo>
                  <a:pt x="92869" y="151170"/>
                  <a:pt x="84812" y="151170"/>
                  <a:pt x="79851" y="156131"/>
                </a:cubicBezTo>
                <a:lnTo>
                  <a:pt x="63421" y="172561"/>
                </a:lnTo>
                <a:lnTo>
                  <a:pt x="63421" y="30678"/>
                </a:lnTo>
                <a:lnTo>
                  <a:pt x="79851" y="47109"/>
                </a:lnTo>
                <a:cubicBezTo>
                  <a:pt x="84812" y="52070"/>
                  <a:pt x="92869" y="52070"/>
                  <a:pt x="97830" y="47109"/>
                </a:cubicBezTo>
                <a:cubicBezTo>
                  <a:pt x="102791" y="42148"/>
                  <a:pt x="102791" y="34092"/>
                  <a:pt x="97830" y="29131"/>
                </a:cubicBezTo>
                <a:lnTo>
                  <a:pt x="59730" y="-8969"/>
                </a:lnTo>
                <a:close/>
              </a:path>
            </a:pathLst>
          </a:custGeom>
          <a:solidFill>
            <a:srgbClr val="678BC7"/>
          </a:solidFill>
        </p:spPr>
      </p:sp>
      <p:sp>
        <p:nvSpPr>
          <p:cNvPr id="20" name="Text 17"/>
          <p:cNvSpPr/>
          <p:nvPr/>
        </p:nvSpPr>
        <p:spPr>
          <a:xfrm>
            <a:off x="6020753" y="5181600"/>
            <a:ext cx="1333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78BC7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标准化工具调用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089650" y="5537200"/>
            <a:ext cx="12700" cy="304800"/>
          </a:xfrm>
          <a:custGeom>
            <a:avLst/>
            <a:gdLst/>
            <a:ahLst/>
            <a:cxnLst/>
            <a:rect l="l" t="t" r="r" b="b"/>
            <a:pathLst>
              <a:path w="12700" h="304800">
                <a:moveTo>
                  <a:pt x="0" y="0"/>
                </a:moveTo>
                <a:lnTo>
                  <a:pt x="12700" y="0"/>
                </a:lnTo>
                <a:lnTo>
                  <a:pt x="127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678BC7"/>
          </a:solidFill>
        </p:spPr>
      </p:sp>
      <p:sp>
        <p:nvSpPr>
          <p:cNvPr id="22" name="Shape 19"/>
          <p:cNvSpPr/>
          <p:nvPr/>
        </p:nvSpPr>
        <p:spPr>
          <a:xfrm>
            <a:off x="222885" y="5842000"/>
            <a:ext cx="11684000" cy="965200"/>
          </a:xfrm>
          <a:custGeom>
            <a:avLst/>
            <a:gdLst/>
            <a:ahLst/>
            <a:cxnLst/>
            <a:rect l="l" t="t" r="r" b="b"/>
            <a:pathLst>
              <a:path w="11684000" h="965200">
                <a:moveTo>
                  <a:pt x="101597" y="0"/>
                </a:moveTo>
                <a:lnTo>
                  <a:pt x="11582403" y="0"/>
                </a:lnTo>
                <a:cubicBezTo>
                  <a:pt x="11638513" y="0"/>
                  <a:pt x="11684000" y="45487"/>
                  <a:pt x="11684000" y="101597"/>
                </a:cubicBezTo>
                <a:lnTo>
                  <a:pt x="11684000" y="863603"/>
                </a:lnTo>
                <a:cubicBezTo>
                  <a:pt x="11684000" y="919713"/>
                  <a:pt x="11638513" y="965200"/>
                  <a:pt x="11582403" y="965200"/>
                </a:cubicBezTo>
                <a:lnTo>
                  <a:pt x="101597" y="965200"/>
                </a:lnTo>
                <a:cubicBezTo>
                  <a:pt x="45487" y="965200"/>
                  <a:pt x="0" y="919713"/>
                  <a:pt x="0" y="8636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9AB3D4">
              <a:alpha val="50196"/>
            </a:srgbClr>
          </a:solidFill>
        </p:spPr>
      </p:sp>
      <p:sp>
        <p:nvSpPr>
          <p:cNvPr id="23" name="Text 20"/>
          <p:cNvSpPr/>
          <p:nvPr/>
        </p:nvSpPr>
        <p:spPr>
          <a:xfrm>
            <a:off x="400050" y="5969000"/>
            <a:ext cx="11391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C5A85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数据存储与服务层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19100" y="6400804"/>
            <a:ext cx="113538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PostgreSQL / 向量数据库 / 阿里云OCR / 多AI模型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9-d2sggte1bb2p4onbon7g.jpg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1:33:16-d2sggv61bb2p4onbonj0.png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635" y="2811780"/>
            <a:ext cx="12191365" cy="451548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1020" y="532130"/>
            <a:ext cx="10479405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分层通信与数据流机制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09-04-11:33:06-d2sggsm1bb2p4onbon1g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 rot="1740000">
            <a:off x="9091295" y="1026795"/>
            <a:ext cx="805815" cy="84772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9-04-11:33:09-d2sggte1bb2p4onbon6g.png"/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10052050" y="-999490"/>
            <a:ext cx="3007995" cy="3016250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09-04-11:33:06-d2sggsm1bb2p4onbon1g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1740000">
            <a:off x="3428365" y="5163185"/>
            <a:ext cx="425450" cy="447675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09-04-11:33:06-d2sggsm1bb2p4onbon1g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1740000">
            <a:off x="11146790" y="5626100"/>
            <a:ext cx="425450" cy="447675"/>
          </a:xfrm>
          <a:prstGeom prst="rect">
            <a:avLst/>
          </a:prstGeom>
        </p:spPr>
      </p:pic>
      <p:sp>
        <p:nvSpPr>
          <p:cNvPr id="9" name="Shape 1"/>
          <p:cNvSpPr/>
          <p:nvPr/>
        </p:nvSpPr>
        <p:spPr>
          <a:xfrm>
            <a:off x="4296410" y="1910080"/>
            <a:ext cx="3388995" cy="374142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1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</p:spPr>
      </p:sp>
      <p:sp>
        <p:nvSpPr>
          <p:cNvPr id="10" name="Text 2"/>
          <p:cNvSpPr/>
          <p:nvPr/>
        </p:nvSpPr>
        <p:spPr>
          <a:xfrm>
            <a:off x="4296410" y="1910080"/>
            <a:ext cx="3388995" cy="37414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3"/>
          <p:cNvSpPr/>
          <p:nvPr/>
        </p:nvSpPr>
        <p:spPr>
          <a:xfrm>
            <a:off x="7752080" y="2186305"/>
            <a:ext cx="3388995" cy="374142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9000"/>
                </a:srgbClr>
              </a:gs>
              <a:gs pos="26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</p:spPr>
      </p:sp>
      <p:sp>
        <p:nvSpPr>
          <p:cNvPr id="12" name="Text 4"/>
          <p:cNvSpPr/>
          <p:nvPr/>
        </p:nvSpPr>
        <p:spPr>
          <a:xfrm>
            <a:off x="7752080" y="2186305"/>
            <a:ext cx="3388995" cy="37414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3" name="Image 6" descr="https://kimi-img.moonshot.cn/pub/slides/slides_tmpl/image/25-09-04-11:33:09-d2sggte1bb2p4onbon6g.png"/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-1176020" y="5157470"/>
            <a:ext cx="3007995" cy="3016250"/>
          </a:xfrm>
          <a:prstGeom prst="rect">
            <a:avLst/>
          </a:prstGeom>
        </p:spPr>
      </p:pic>
      <p:sp>
        <p:nvSpPr>
          <p:cNvPr id="14" name="Shape 5"/>
          <p:cNvSpPr/>
          <p:nvPr/>
        </p:nvSpPr>
        <p:spPr>
          <a:xfrm>
            <a:off x="791845" y="1572895"/>
            <a:ext cx="3388995" cy="374142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1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</p:spPr>
      </p:sp>
      <p:sp>
        <p:nvSpPr>
          <p:cNvPr id="15" name="Text 6"/>
          <p:cNvSpPr/>
          <p:nvPr/>
        </p:nvSpPr>
        <p:spPr>
          <a:xfrm>
            <a:off x="791845" y="1572895"/>
            <a:ext cx="3388995" cy="37414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Text 7"/>
          <p:cNvSpPr/>
          <p:nvPr/>
        </p:nvSpPr>
        <p:spPr>
          <a:xfrm>
            <a:off x="1082675" y="1858645"/>
            <a:ext cx="2853690" cy="831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分层架构</a:t>
            </a:r>
            <a:endParaRPr lang="en-US" sz="1600" dirty="0"/>
          </a:p>
        </p:txBody>
      </p:sp>
      <p:sp>
        <p:nvSpPr>
          <p:cNvPr id="17" name="Text 8"/>
          <p:cNvSpPr/>
          <p:nvPr/>
        </p:nvSpPr>
        <p:spPr>
          <a:xfrm>
            <a:off x="1082675" y="2572385"/>
            <a:ext cx="2853055" cy="25158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架构自顶向下分为用户前端、API网关、A2A智能体层、MCP协议层及数据存储与服务层，各层分工明确，协同高效。</a:t>
            </a:r>
            <a:endParaRPr lang="en-US" sz="1600" dirty="0"/>
          </a:p>
        </p:txBody>
      </p:sp>
      <p:sp>
        <p:nvSpPr>
          <p:cNvPr id="18" name="Text 9"/>
          <p:cNvSpPr/>
          <p:nvPr/>
        </p:nvSpPr>
        <p:spPr>
          <a:xfrm>
            <a:off x="4587240" y="2195830"/>
            <a:ext cx="2853690" cy="831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双向实时通信</a:t>
            </a:r>
            <a:endParaRPr lang="en-US" sz="1600" dirty="0"/>
          </a:p>
        </p:txBody>
      </p:sp>
      <p:sp>
        <p:nvSpPr>
          <p:cNvPr id="19" name="Text 10"/>
          <p:cNvSpPr/>
          <p:nvPr/>
        </p:nvSpPr>
        <p:spPr>
          <a:xfrm>
            <a:off x="4587240" y="2909570"/>
            <a:ext cx="2853055" cy="25158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各层通过WebSocket SSE实现双向实时通信，确保数据的即时传递和交互，提升用户体验。</a:t>
            </a:r>
            <a:endParaRPr lang="en-US" sz="1600" dirty="0"/>
          </a:p>
        </p:txBody>
      </p:sp>
      <p:sp>
        <p:nvSpPr>
          <p:cNvPr id="20" name="Text 11"/>
          <p:cNvSpPr/>
          <p:nvPr/>
        </p:nvSpPr>
        <p:spPr>
          <a:xfrm>
            <a:off x="8042910" y="2472055"/>
            <a:ext cx="2853690" cy="831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标准化接口调用</a:t>
            </a:r>
            <a:endParaRPr lang="en-US" sz="1600" dirty="0"/>
          </a:p>
        </p:txBody>
      </p:sp>
      <p:sp>
        <p:nvSpPr>
          <p:cNvPr id="21" name="Text 12"/>
          <p:cNvSpPr/>
          <p:nvPr/>
        </p:nvSpPr>
        <p:spPr>
          <a:xfrm>
            <a:off x="8042910" y="3185795"/>
            <a:ext cx="2853055" cy="25158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工具调用采用MCP标准化接口，实现即插即用，方便后续功能扩展和维护。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6-d2sggsm1bb2p4onbon1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>
            <p:custDataLst>
              <p:tags r:id="rId2"/>
            </p:custDataLst>
          </p:nvPr>
        </p:nvSpPr>
        <p:spPr>
          <a:xfrm>
            <a:off x="6202680" y="1847215"/>
            <a:ext cx="2790190" cy="4148455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1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</p:spPr>
      </p:sp>
      <p:sp>
        <p:nvSpPr>
          <p:cNvPr id="4" name="Text 1"/>
          <p:cNvSpPr/>
          <p:nvPr/>
        </p:nvSpPr>
        <p:spPr>
          <a:xfrm>
            <a:off x="6202680" y="1847215"/>
            <a:ext cx="2790190" cy="41484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>
            <p:custDataLst>
              <p:tags r:id="rId3"/>
            </p:custDataLst>
          </p:nvPr>
        </p:nvSpPr>
        <p:spPr>
          <a:xfrm>
            <a:off x="443865" y="1741170"/>
            <a:ext cx="2790190" cy="4148455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1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</p:spPr>
      </p:sp>
      <p:sp>
        <p:nvSpPr>
          <p:cNvPr id="6" name="Text 3"/>
          <p:cNvSpPr/>
          <p:nvPr/>
        </p:nvSpPr>
        <p:spPr>
          <a:xfrm>
            <a:off x="443865" y="1741170"/>
            <a:ext cx="2790190" cy="41484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>
            <p:custDataLst>
              <p:tags r:id="rId4"/>
            </p:custDataLst>
          </p:nvPr>
        </p:nvSpPr>
        <p:spPr>
          <a:xfrm>
            <a:off x="3322955" y="2245360"/>
            <a:ext cx="2790190" cy="4148455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1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</p:spPr>
      </p:sp>
      <p:sp>
        <p:nvSpPr>
          <p:cNvPr id="8" name="Text 5"/>
          <p:cNvSpPr/>
          <p:nvPr/>
        </p:nvSpPr>
        <p:spPr>
          <a:xfrm>
            <a:off x="3322955" y="2245360"/>
            <a:ext cx="2790190" cy="41484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>
            <p:custDataLst>
              <p:tags r:id="rId5"/>
            </p:custDataLst>
          </p:nvPr>
        </p:nvSpPr>
        <p:spPr>
          <a:xfrm>
            <a:off x="9011920" y="2245360"/>
            <a:ext cx="2790190" cy="4148455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1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</p:spPr>
      </p:sp>
      <p:sp>
        <p:nvSpPr>
          <p:cNvPr id="10" name="Text 7"/>
          <p:cNvSpPr/>
          <p:nvPr/>
        </p:nvSpPr>
        <p:spPr>
          <a:xfrm>
            <a:off x="9011920" y="2245360"/>
            <a:ext cx="2790190" cy="41484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56298" y="535305"/>
            <a:ext cx="10479405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四大核心功能概览</a:t>
            </a:r>
            <a:endParaRPr lang="en-US" sz="1600" dirty="0"/>
          </a:p>
        </p:txBody>
      </p:sp>
      <p:sp>
        <p:nvSpPr>
          <p:cNvPr id="12" name="Shape 9"/>
          <p:cNvSpPr/>
          <p:nvPr>
            <p:custDataLst>
              <p:tags r:id="rId6"/>
            </p:custDataLst>
          </p:nvPr>
        </p:nvSpPr>
        <p:spPr>
          <a:xfrm>
            <a:off x="443865" y="1605280"/>
            <a:ext cx="690245" cy="3695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F5BEE"/>
              </a:gs>
              <a:gs pos="13000">
                <a:srgbClr val="2F5BEE"/>
              </a:gs>
              <a:gs pos="100000">
                <a:srgbClr val="EAEEF4"/>
              </a:gs>
            </a:gsLst>
            <a:lin ang="2700000" scaled="1"/>
          </a:gradFill>
        </p:spPr>
      </p:sp>
      <p:sp>
        <p:nvSpPr>
          <p:cNvPr id="13" name="Text 10"/>
          <p:cNvSpPr/>
          <p:nvPr/>
        </p:nvSpPr>
        <p:spPr>
          <a:xfrm>
            <a:off x="443865" y="1605280"/>
            <a:ext cx="690245" cy="3695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1"/>
          <p:cNvSpPr/>
          <p:nvPr>
            <p:custDataLst>
              <p:tags r:id="rId7"/>
            </p:custDataLst>
          </p:nvPr>
        </p:nvSpPr>
        <p:spPr>
          <a:xfrm>
            <a:off x="3319780" y="2034540"/>
            <a:ext cx="690245" cy="3695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F5BEE"/>
              </a:gs>
              <a:gs pos="13000">
                <a:srgbClr val="2F5BEE"/>
              </a:gs>
              <a:gs pos="100000">
                <a:srgbClr val="EAEEF4"/>
              </a:gs>
            </a:gsLst>
            <a:lin ang="2700000" scaled="1"/>
          </a:gradFill>
        </p:spPr>
      </p:sp>
      <p:sp>
        <p:nvSpPr>
          <p:cNvPr id="15" name="Text 12"/>
          <p:cNvSpPr/>
          <p:nvPr/>
        </p:nvSpPr>
        <p:spPr>
          <a:xfrm>
            <a:off x="3319780" y="2034540"/>
            <a:ext cx="690245" cy="3695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3"/>
          <p:cNvSpPr/>
          <p:nvPr>
            <p:custDataLst>
              <p:tags r:id="rId8"/>
            </p:custDataLst>
          </p:nvPr>
        </p:nvSpPr>
        <p:spPr>
          <a:xfrm>
            <a:off x="6208395" y="1605280"/>
            <a:ext cx="690245" cy="3695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F5BEE"/>
              </a:gs>
              <a:gs pos="13000">
                <a:srgbClr val="2F5BEE"/>
              </a:gs>
              <a:gs pos="100000">
                <a:srgbClr val="EAEEF4"/>
              </a:gs>
            </a:gsLst>
            <a:lin ang="2700000" scaled="1"/>
          </a:gradFill>
        </p:spPr>
      </p:sp>
      <p:sp>
        <p:nvSpPr>
          <p:cNvPr id="17" name="Text 14"/>
          <p:cNvSpPr/>
          <p:nvPr/>
        </p:nvSpPr>
        <p:spPr>
          <a:xfrm>
            <a:off x="6208395" y="1605280"/>
            <a:ext cx="690245" cy="3695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5"/>
          <p:cNvSpPr/>
          <p:nvPr>
            <p:custDataLst>
              <p:tags r:id="rId9"/>
            </p:custDataLst>
          </p:nvPr>
        </p:nvSpPr>
        <p:spPr>
          <a:xfrm>
            <a:off x="9024620" y="2079625"/>
            <a:ext cx="690245" cy="3695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F5BEE"/>
              </a:gs>
              <a:gs pos="13000">
                <a:srgbClr val="2F5BEE"/>
              </a:gs>
              <a:gs pos="100000">
                <a:srgbClr val="EAEEF4"/>
              </a:gs>
            </a:gsLst>
            <a:lin ang="2700000" scaled="1"/>
          </a:gradFill>
        </p:spPr>
      </p:sp>
      <p:sp>
        <p:nvSpPr>
          <p:cNvPr id="19" name="Text 16"/>
          <p:cNvSpPr/>
          <p:nvPr/>
        </p:nvSpPr>
        <p:spPr>
          <a:xfrm>
            <a:off x="9024620" y="2079625"/>
            <a:ext cx="690245" cy="3695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6" name="Image 1" descr="https://kimi-img.moonshot.cn/pub/slides/slides_tmpl/image/25-09-04-11:33:04-d2sggs61bb2p4onbomug.png"/>
          <p:cNvPicPr>
            <a:picLocks noChangeAspect="1"/>
          </p:cNvPicPr>
          <p:nvPr/>
        </p:nvPicPr>
        <p:blipFill>
          <a:blip r:embed="rId10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27" name="Image 2" descr="https://kimi-img.moonshot.cn/pub/slides/slides_tmpl/image/25-09-04-11:33:04-d2sggs61bb2p4onbomug.png"/>
          <p:cNvPicPr>
            <a:picLocks noChangeAspect="1"/>
          </p:cNvPicPr>
          <p:nvPr/>
        </p:nvPicPr>
        <p:blipFill>
          <a:blip r:embed="rId10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sp>
        <p:nvSpPr>
          <p:cNvPr id="28" name="Text 23"/>
          <p:cNvSpPr/>
          <p:nvPr>
            <p:custDataLst>
              <p:tags r:id="rId11"/>
            </p:custDataLst>
          </p:nvPr>
        </p:nvSpPr>
        <p:spPr>
          <a:xfrm>
            <a:off x="445135" y="1560195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9" name="Text 24"/>
          <p:cNvSpPr/>
          <p:nvPr>
            <p:custDataLst>
              <p:tags r:id="rId12"/>
            </p:custDataLst>
          </p:nvPr>
        </p:nvSpPr>
        <p:spPr>
          <a:xfrm>
            <a:off x="582295" y="2214245"/>
            <a:ext cx="2477135" cy="701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577FD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健康档案智能构建</a:t>
            </a:r>
            <a:endParaRPr lang="en-US" sz="1600" dirty="0"/>
          </a:p>
        </p:txBody>
      </p:sp>
      <p:sp>
        <p:nvSpPr>
          <p:cNvPr id="30" name="Text 25"/>
          <p:cNvSpPr/>
          <p:nvPr>
            <p:custDataLst>
              <p:tags r:id="rId13"/>
            </p:custDataLst>
          </p:nvPr>
        </p:nvSpPr>
        <p:spPr>
          <a:xfrm>
            <a:off x="611505" y="2829560"/>
            <a:ext cx="2461895" cy="30346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- 多模态信息录入（OCR+文件+手动）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- 结构化数据提取与存储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- A2A负责：多智能体协同工作流编排，协调OCR识别、数据验证、存储入库流程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- MCP负责：标准化OCR工具调用、文件解析接口、数据库操作协议</a:t>
            </a:r>
            <a:endParaRPr lang="en-US" sz="1600" dirty="0"/>
          </a:p>
        </p:txBody>
      </p:sp>
      <p:sp>
        <p:nvSpPr>
          <p:cNvPr id="31" name="Text 26"/>
          <p:cNvSpPr/>
          <p:nvPr>
            <p:custDataLst>
              <p:tags r:id="rId14"/>
            </p:custDataLst>
          </p:nvPr>
        </p:nvSpPr>
        <p:spPr>
          <a:xfrm>
            <a:off x="3321050" y="1989455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32" name="Text 27"/>
          <p:cNvSpPr/>
          <p:nvPr>
            <p:custDataLst>
              <p:tags r:id="rId15"/>
            </p:custDataLst>
          </p:nvPr>
        </p:nvSpPr>
        <p:spPr>
          <a:xfrm>
            <a:off x="3442970" y="2655570"/>
            <a:ext cx="2515235" cy="701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577FD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智能健康咨询</a:t>
            </a:r>
            <a:endParaRPr lang="en-US" sz="1600" dirty="0"/>
          </a:p>
        </p:txBody>
      </p:sp>
      <p:sp>
        <p:nvSpPr>
          <p:cNvPr id="33" name="Text 28"/>
          <p:cNvSpPr/>
          <p:nvPr>
            <p:custDataLst>
              <p:tags r:id="rId16"/>
            </p:custDataLst>
          </p:nvPr>
        </p:nvSpPr>
        <p:spPr>
          <a:xfrm>
            <a:off x="3510280" y="3270885"/>
            <a:ext cx="2461895" cy="30346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- 基于个人病史的症状分析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 - 健康知识问答系统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 - A2A负责：症状推理决策链，多专家智能体协同诊断，风险评估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 - MCP负责：知识库查询接口，AI模型调用协议，历史数据检索标准化</a:t>
            </a:r>
            <a:endParaRPr lang="en-US" sz="1600" dirty="0"/>
          </a:p>
        </p:txBody>
      </p:sp>
      <p:sp>
        <p:nvSpPr>
          <p:cNvPr id="34" name="Text 29"/>
          <p:cNvSpPr/>
          <p:nvPr>
            <p:custDataLst>
              <p:tags r:id="rId17"/>
            </p:custDataLst>
          </p:nvPr>
        </p:nvSpPr>
        <p:spPr>
          <a:xfrm>
            <a:off x="6209665" y="1560195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35" name="Text 30"/>
          <p:cNvSpPr/>
          <p:nvPr>
            <p:custDataLst>
              <p:tags r:id="rId18"/>
            </p:custDataLst>
          </p:nvPr>
        </p:nvSpPr>
        <p:spPr>
          <a:xfrm>
            <a:off x="6323330" y="2200910"/>
            <a:ext cx="2515235" cy="701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577FD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辅助就医沟通</a:t>
            </a:r>
            <a:endParaRPr lang="en-US" sz="1600" dirty="0"/>
          </a:p>
        </p:txBody>
      </p:sp>
      <p:sp>
        <p:nvSpPr>
          <p:cNvPr id="36" name="Text 31"/>
          <p:cNvSpPr/>
          <p:nvPr>
            <p:custDataLst>
              <p:tags r:id="rId19"/>
            </p:custDataLst>
          </p:nvPr>
        </p:nvSpPr>
        <p:spPr>
          <a:xfrm>
            <a:off x="6390640" y="2816225"/>
            <a:ext cx="2461895" cy="30346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- 就诊前摘要自动生成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 - 医患信息高效传递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 - A2A负责：摘要生成智能体协作，关键信息提取优先级排序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 - MCP负责：文档模板标准化，信息导出格式协议，打印/分享接口</a:t>
            </a:r>
            <a:endParaRPr lang="en-US" sz="1600" dirty="0"/>
          </a:p>
        </p:txBody>
      </p:sp>
      <p:sp>
        <p:nvSpPr>
          <p:cNvPr id="37" name="Text 32"/>
          <p:cNvSpPr/>
          <p:nvPr>
            <p:custDataLst>
              <p:tags r:id="rId20"/>
            </p:custDataLst>
          </p:nvPr>
        </p:nvSpPr>
        <p:spPr>
          <a:xfrm>
            <a:off x="9025890" y="2034540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38" name="Text 33"/>
          <p:cNvSpPr/>
          <p:nvPr>
            <p:custDataLst>
              <p:tags r:id="rId21"/>
            </p:custDataLst>
          </p:nvPr>
        </p:nvSpPr>
        <p:spPr>
          <a:xfrm>
            <a:off x="9116695" y="2704465"/>
            <a:ext cx="2515235" cy="701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577FD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用药与复诊管理</a:t>
            </a:r>
            <a:endParaRPr lang="en-US" sz="1600" dirty="0"/>
          </a:p>
        </p:txBody>
      </p:sp>
      <p:sp>
        <p:nvSpPr>
          <p:cNvPr id="39" name="Text 34"/>
          <p:cNvSpPr/>
          <p:nvPr>
            <p:custDataLst>
              <p:tags r:id="rId22"/>
            </p:custDataLst>
          </p:nvPr>
        </p:nvSpPr>
        <p:spPr>
          <a:xfrm>
            <a:off x="9184005" y="3319780"/>
            <a:ext cx="2461895" cy="29857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- 智能用药提醒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 - 药品库存预警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 - 复诊计划管理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 - A2A负责：用药提醒智能调度，库存预警决策，复诊时间智能推荐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 - MCP负责：定时任务协议，推送通知接口，日历集成标准化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6-d2sggsm1bb2p4onbon1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1:33:10-d2sggtm1bb2p4onbon9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540" y="5133340"/>
            <a:ext cx="475615" cy="93281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2155" y="905510"/>
            <a:ext cx="10649585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智能体角色与协同机制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4328795" y="4899025"/>
            <a:ext cx="3431540" cy="1268095"/>
          </a:xfrm>
          <a:prstGeom prst="trapezoid">
            <a:avLst>
              <a:gd name="adj" fmla="val 26039"/>
            </a:avLst>
          </a:prstGeom>
          <a:gradFill flip="none" rotWithShape="1">
            <a:gsLst>
              <a:gs pos="0">
                <a:srgbClr val="577FD2">
                  <a:alpha val="21000"/>
                </a:srgbClr>
              </a:gs>
              <a:gs pos="68000">
                <a:srgbClr val="F3F7FA">
                  <a:alpha val="0"/>
                </a:srgbClr>
              </a:gs>
              <a:gs pos="100000">
                <a:srgbClr val="F3F7FA">
                  <a:alpha val="0"/>
                </a:srgbClr>
              </a:gs>
            </a:gsLst>
            <a:lin ang="5400000" scaled="1"/>
          </a:gradFill>
        </p:spPr>
      </p:sp>
      <p:sp>
        <p:nvSpPr>
          <p:cNvPr id="6" name="Text 2"/>
          <p:cNvSpPr/>
          <p:nvPr/>
        </p:nvSpPr>
        <p:spPr>
          <a:xfrm>
            <a:off x="4328795" y="4899025"/>
            <a:ext cx="3431540" cy="126809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7" name="Image 2" descr="https://kimi-img.moonshot.cn/pub/slides/slides_tmpl/image/25-09-04-11:33:12-d2sggu61bb2p4onbon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9780" y="2643505"/>
            <a:ext cx="2904490" cy="3145790"/>
          </a:xfrm>
          <a:prstGeom prst="rect">
            <a:avLst/>
          </a:prstGeom>
        </p:spPr>
      </p:pic>
      <p:pic>
        <p:nvPicPr>
          <p:cNvPr id="8" name="Image 3" descr="https://kimi-img.moonshot.cn/pub/slides/slides_tmpl/image/25-09-04-11:33:10-d2sggtm1bb2p4onbonag.png"/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 flipH="1" flipV="1">
            <a:off x="6543040" y="2043430"/>
            <a:ext cx="1456690" cy="1456690"/>
          </a:xfrm>
          <a:prstGeom prst="rect">
            <a:avLst/>
          </a:prstGeom>
        </p:spPr>
      </p:pic>
      <p:pic>
        <p:nvPicPr>
          <p:cNvPr id="9" name="Image 4" descr="https://kimi-img.moonshot.cn/pub/slides/slides_tmpl/image/25-09-04-11:33:09-d2sggte1bb2p4onbon6g.png"/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4328795" y="5132070"/>
            <a:ext cx="461645" cy="462915"/>
          </a:xfrm>
          <a:prstGeom prst="rect">
            <a:avLst/>
          </a:prstGeom>
        </p:spPr>
      </p:pic>
      <p:pic>
        <p:nvPicPr>
          <p:cNvPr id="10" name="Image 5" descr="https://kimi-img.moonshot.cn/pub/slides/slides_tmpl/image/25-09-04-11:33:04-d2sggs61bb2p4onbomu0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11" name="Shape 3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Shape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Text 5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5" name="Text 7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7" name="Text 9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9" name="Text 11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1" name="Text 13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Text 16"/>
          <p:cNvSpPr/>
          <p:nvPr/>
        </p:nvSpPr>
        <p:spPr>
          <a:xfrm>
            <a:off x="732155" y="2643505"/>
            <a:ext cx="4998085" cy="3854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智能体角色分工</a:t>
            </a:r>
            <a:endParaRPr lang="en-US" sz="1600" dirty="0"/>
          </a:p>
        </p:txBody>
      </p:sp>
      <p:sp>
        <p:nvSpPr>
          <p:cNvPr id="25" name="Text 17"/>
          <p:cNvSpPr/>
          <p:nvPr/>
        </p:nvSpPr>
        <p:spPr>
          <a:xfrm>
            <a:off x="732155" y="3028950"/>
            <a:ext cx="3596640" cy="29629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系统定义HealthRecordsManager、HealthAdvisor、MedicationReminder、VisitSummaryGenerator四类智能体，分别负责数据管理、咨询建议、用药提醒与就诊摘要。</a:t>
            </a:r>
            <a:endParaRPr lang="en-US" sz="1600" dirty="0"/>
          </a:p>
        </p:txBody>
      </p:sp>
      <p:sp>
        <p:nvSpPr>
          <p:cNvPr id="26" name="Text 18"/>
          <p:cNvSpPr/>
          <p:nvPr/>
        </p:nvSpPr>
        <p:spPr>
          <a:xfrm>
            <a:off x="7999730" y="2643505"/>
            <a:ext cx="4997450" cy="3435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协同工作机制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7999730" y="3023870"/>
            <a:ext cx="3596640" cy="2765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智能体间通过消息传递、任务分配、结果聚合及异常重试机制实现协同，确保系统的高效运行和稳定性。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9-d2sggte1bb2p4onbon7g.jpg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76700" y="2049145"/>
            <a:ext cx="10468610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工具分类与接口标准化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 rot="19800000">
            <a:off x="751840" y="3292475"/>
            <a:ext cx="1946910" cy="1729740"/>
          </a:xfrm>
          <a:custGeom>
            <a:avLst/>
            <a:gdLst/>
            <a:ahLst/>
            <a:cxnLst/>
            <a:rect l="l" t="t" r="r" b="b"/>
            <a:pathLst>
              <a:path w="1946910" h="1729740">
                <a:moveTo>
                  <a:pt x="694401" y="1689640"/>
                </a:moveTo>
                <a:lnTo>
                  <a:pt x="1252510" y="1689640"/>
                </a:lnTo>
                <a:lnTo>
                  <a:pt x="1170474" y="1712169"/>
                </a:lnTo>
                <a:cubicBezTo>
                  <a:pt x="1106834" y="1723690"/>
                  <a:pt x="1040944" y="1729740"/>
                  <a:pt x="973455" y="1729740"/>
                </a:cubicBezTo>
                <a:cubicBezTo>
                  <a:pt x="905966" y="1729740"/>
                  <a:pt x="840076" y="1723690"/>
                  <a:pt x="776437" y="1712169"/>
                </a:cubicBezTo>
                <a:close/>
                <a:moveTo>
                  <a:pt x="419976" y="1576997"/>
                </a:moveTo>
                <a:lnTo>
                  <a:pt x="1526934" y="1576997"/>
                </a:lnTo>
                <a:lnTo>
                  <a:pt x="1520034" y="1582034"/>
                </a:lnTo>
                <a:lnTo>
                  <a:pt x="1447015" y="1617097"/>
                </a:lnTo>
                <a:lnTo>
                  <a:pt x="499895" y="1617097"/>
                </a:lnTo>
                <a:lnTo>
                  <a:pt x="426876" y="1582034"/>
                </a:lnTo>
                <a:close/>
                <a:moveTo>
                  <a:pt x="270939" y="1464354"/>
                </a:moveTo>
                <a:lnTo>
                  <a:pt x="1675972" y="1464354"/>
                </a:lnTo>
                <a:lnTo>
                  <a:pt x="1664715" y="1476426"/>
                </a:lnTo>
                <a:lnTo>
                  <a:pt x="1626315" y="1504455"/>
                </a:lnTo>
                <a:lnTo>
                  <a:pt x="320595" y="1504455"/>
                </a:lnTo>
                <a:lnTo>
                  <a:pt x="282196" y="1476426"/>
                </a:lnTo>
                <a:close/>
                <a:moveTo>
                  <a:pt x="165887" y="1351712"/>
                </a:moveTo>
                <a:lnTo>
                  <a:pt x="1781023" y="1351712"/>
                </a:lnTo>
                <a:lnTo>
                  <a:pt x="1743626" y="1391812"/>
                </a:lnTo>
                <a:lnTo>
                  <a:pt x="203285" y="1391812"/>
                </a:lnTo>
                <a:close/>
                <a:moveTo>
                  <a:pt x="95731" y="1239069"/>
                </a:moveTo>
                <a:lnTo>
                  <a:pt x="1851181" y="1239069"/>
                </a:lnTo>
                <a:lnTo>
                  <a:pt x="1826578" y="1279169"/>
                </a:lnTo>
                <a:lnTo>
                  <a:pt x="120333" y="1279169"/>
                </a:lnTo>
                <a:close/>
                <a:moveTo>
                  <a:pt x="46344" y="1126427"/>
                </a:moveTo>
                <a:lnTo>
                  <a:pt x="1900566" y="1126427"/>
                </a:lnTo>
                <a:lnTo>
                  <a:pt x="1886496" y="1166527"/>
                </a:lnTo>
                <a:lnTo>
                  <a:pt x="60414" y="1166527"/>
                </a:lnTo>
                <a:close/>
                <a:moveTo>
                  <a:pt x="12835" y="1013784"/>
                </a:moveTo>
                <a:lnTo>
                  <a:pt x="1934075" y="1013784"/>
                </a:lnTo>
                <a:lnTo>
                  <a:pt x="1931183" y="1039172"/>
                </a:lnTo>
                <a:lnTo>
                  <a:pt x="1926020" y="1053884"/>
                </a:lnTo>
                <a:lnTo>
                  <a:pt x="20890" y="1053884"/>
                </a:lnTo>
                <a:lnTo>
                  <a:pt x="15728" y="1039172"/>
                </a:lnTo>
                <a:close/>
                <a:moveTo>
                  <a:pt x="0" y="901141"/>
                </a:moveTo>
                <a:lnTo>
                  <a:pt x="1946910" y="901141"/>
                </a:lnTo>
                <a:lnTo>
                  <a:pt x="1942341" y="941241"/>
                </a:lnTo>
                <a:lnTo>
                  <a:pt x="4569" y="941241"/>
                </a:lnTo>
                <a:close/>
                <a:moveTo>
                  <a:pt x="4569" y="788499"/>
                </a:moveTo>
                <a:lnTo>
                  <a:pt x="1942341" y="788499"/>
                </a:lnTo>
                <a:lnTo>
                  <a:pt x="1946910" y="828599"/>
                </a:lnTo>
                <a:lnTo>
                  <a:pt x="0" y="828599"/>
                </a:lnTo>
                <a:close/>
                <a:moveTo>
                  <a:pt x="20890" y="675856"/>
                </a:moveTo>
                <a:lnTo>
                  <a:pt x="1926021" y="675856"/>
                </a:lnTo>
                <a:lnTo>
                  <a:pt x="1931183" y="690568"/>
                </a:lnTo>
                <a:lnTo>
                  <a:pt x="1934075" y="715956"/>
                </a:lnTo>
                <a:lnTo>
                  <a:pt x="12835" y="715956"/>
                </a:lnTo>
                <a:lnTo>
                  <a:pt x="15728" y="690568"/>
                </a:lnTo>
                <a:close/>
                <a:moveTo>
                  <a:pt x="60414" y="563213"/>
                </a:moveTo>
                <a:lnTo>
                  <a:pt x="1886497" y="563213"/>
                </a:lnTo>
                <a:lnTo>
                  <a:pt x="1900567" y="603313"/>
                </a:lnTo>
                <a:lnTo>
                  <a:pt x="46344" y="603313"/>
                </a:lnTo>
                <a:close/>
                <a:moveTo>
                  <a:pt x="120332" y="450571"/>
                </a:moveTo>
                <a:lnTo>
                  <a:pt x="1826578" y="450571"/>
                </a:lnTo>
                <a:lnTo>
                  <a:pt x="1851181" y="490671"/>
                </a:lnTo>
                <a:lnTo>
                  <a:pt x="95729" y="490671"/>
                </a:lnTo>
                <a:close/>
                <a:moveTo>
                  <a:pt x="203284" y="337928"/>
                </a:moveTo>
                <a:lnTo>
                  <a:pt x="1743627" y="337928"/>
                </a:lnTo>
                <a:lnTo>
                  <a:pt x="1781024" y="378028"/>
                </a:lnTo>
                <a:lnTo>
                  <a:pt x="165886" y="378028"/>
                </a:lnTo>
                <a:close/>
                <a:moveTo>
                  <a:pt x="320594" y="225285"/>
                </a:moveTo>
                <a:lnTo>
                  <a:pt x="1626317" y="225285"/>
                </a:lnTo>
                <a:lnTo>
                  <a:pt x="1664715" y="253314"/>
                </a:lnTo>
                <a:lnTo>
                  <a:pt x="1675972" y="265386"/>
                </a:lnTo>
                <a:lnTo>
                  <a:pt x="270938" y="265386"/>
                </a:lnTo>
                <a:lnTo>
                  <a:pt x="282196" y="253314"/>
                </a:lnTo>
                <a:close/>
                <a:moveTo>
                  <a:pt x="499893" y="112643"/>
                </a:moveTo>
                <a:lnTo>
                  <a:pt x="1447017" y="112643"/>
                </a:lnTo>
                <a:lnTo>
                  <a:pt x="1520034" y="147706"/>
                </a:lnTo>
                <a:lnTo>
                  <a:pt x="1526935" y="152743"/>
                </a:lnTo>
                <a:lnTo>
                  <a:pt x="419975" y="152743"/>
                </a:lnTo>
                <a:lnTo>
                  <a:pt x="426876" y="147706"/>
                </a:lnTo>
                <a:close/>
                <a:moveTo>
                  <a:pt x="973431" y="0"/>
                </a:moveTo>
                <a:lnTo>
                  <a:pt x="973480" y="0"/>
                </a:lnTo>
                <a:lnTo>
                  <a:pt x="1073409" y="4464"/>
                </a:lnTo>
                <a:cubicBezTo>
                  <a:pt x="1106272" y="7417"/>
                  <a:pt x="1138655" y="11810"/>
                  <a:pt x="1170474" y="17571"/>
                </a:cubicBezTo>
                <a:lnTo>
                  <a:pt x="1252514" y="40100"/>
                </a:lnTo>
                <a:lnTo>
                  <a:pt x="694398" y="40100"/>
                </a:lnTo>
                <a:lnTo>
                  <a:pt x="776437" y="17571"/>
                </a:lnTo>
                <a:cubicBezTo>
                  <a:pt x="808256" y="11810"/>
                  <a:pt x="840638" y="7417"/>
                  <a:pt x="873503" y="4464"/>
                </a:cubicBezTo>
                <a:close/>
              </a:path>
            </a:pathLst>
          </a:custGeom>
          <a:solidFill>
            <a:srgbClr val="00B0F0">
              <a:alpha val="30196"/>
            </a:srgbClr>
          </a:solidFill>
        </p:spPr>
      </p:sp>
      <p:sp>
        <p:nvSpPr>
          <p:cNvPr id="5" name="Text 2"/>
          <p:cNvSpPr/>
          <p:nvPr/>
        </p:nvSpPr>
        <p:spPr>
          <a:xfrm rot="19800000">
            <a:off x="751840" y="3292475"/>
            <a:ext cx="1946910" cy="17297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468755" y="-238125"/>
            <a:ext cx="15883890" cy="7847965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2F5BEE">
                    <a:alpha val="61000"/>
                  </a:srgbClr>
                </a:gs>
                <a:gs pos="45000">
                  <a:srgbClr val="2F5BEE">
                    <a:alpha val="61000"/>
                  </a:srgbClr>
                </a:gs>
                <a:gs pos="100000">
                  <a:srgbClr val="8DD4F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468755" y="-238125"/>
            <a:ext cx="15883890" cy="784796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8" name="Image 1" descr="https://kimi-img.moonshot.cn/pub/slides/slides_tmpl/image/25-09-04-11:33:09-d2sggte1bb2p4onbon8g.png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941195" y="1397635"/>
            <a:ext cx="1883410" cy="1883410"/>
          </a:xfrm>
          <a:prstGeom prst="rect">
            <a:avLst/>
          </a:prstGeom>
        </p:spPr>
      </p:pic>
      <p:pic>
        <p:nvPicPr>
          <p:cNvPr id="9" name="Image 2" descr="https://kimi-img.moonshot.cn/pub/slides/slides_tmpl/image/25-09-04-11:33:09-d2sggte1bb2p4onbon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55" y="2375535"/>
            <a:ext cx="2474595" cy="2458085"/>
          </a:xfrm>
          <a:prstGeom prst="rect">
            <a:avLst/>
          </a:prstGeom>
        </p:spPr>
      </p:pic>
      <p:pic>
        <p:nvPicPr>
          <p:cNvPr id="10" name="Image 3" descr="https://kimi-img.moonshot.cn/pub/slides/slides_tmpl/image/25-09-04-11:33:09-d2sggte1bb2p4onbon6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2526" y="4254512"/>
            <a:ext cx="504778" cy="506199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7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3" name="Image 4" descr="https://kimi-img.moonshot.cn/pub/slides/slides_tmpl/image/25-09-04-11:33:04-d2sggs61bb2p4onbomu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24" name="Image 5" descr="https://kimi-img.moonshot.cn/pub/slides/slides_tmpl/image/25-09-04-11:33:04-d2sggs61bb2p4onbomu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pic>
        <p:nvPicPr>
          <p:cNvPr id="25" name="Image 6" descr="https://kimi-img.moonshot.cn/pub/slides/slides_tmpl/image/25-09-04-11:33:09-d2sggte1bb2p4onbon6g.png"/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10121900" y="5080000"/>
            <a:ext cx="3007995" cy="3016250"/>
          </a:xfrm>
          <a:prstGeom prst="rect">
            <a:avLst/>
          </a:prstGeom>
        </p:spPr>
      </p:pic>
      <p:pic>
        <p:nvPicPr>
          <p:cNvPr id="26" name="Image 7" descr="https://kimi-img.moonshot.cn/pub/slides/slides_tmpl/image/25-09-04-11:33:10-d2sggtm1bb2p4onbona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620" y="2525747"/>
            <a:ext cx="2260600" cy="226060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3422015" y="3281045"/>
            <a:ext cx="6582410" cy="22536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健康档案工具组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- OCRTool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：阿里云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OCR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医疗文档识别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- DataExtractionTool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：结构化信息提取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- StorageTool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：加密存储管理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18"/>
          <p:cNvSpPr/>
          <p:nvPr/>
        </p:nvSpPr>
        <p:spPr>
          <a:xfrm>
            <a:off x="3422015" y="5080000"/>
            <a:ext cx="6582410" cy="22536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健康咨询工具组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- DiagnosisTool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：症状分析与建议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- KnowledgeTool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：医疗知识检索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18"/>
          <p:cNvSpPr/>
          <p:nvPr/>
        </p:nvSpPr>
        <p:spPr>
          <a:xfrm>
            <a:off x="7364095" y="3139440"/>
            <a:ext cx="6582410" cy="11264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用药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管理工具组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-ReminderTool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：提醒计划管理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- NotificationTool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：消息推送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18"/>
          <p:cNvSpPr/>
          <p:nvPr/>
        </p:nvSpPr>
        <p:spPr>
          <a:xfrm>
            <a:off x="7364095" y="5080000"/>
            <a:ext cx="6582410" cy="12693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文档分析工具组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- DocumentTool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：医疗文档解析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- AIAnalysisTool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：智能分析与摘要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581660" y="532130"/>
            <a:ext cx="10479405" cy="830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业务</a:t>
            </a: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流程图</a:t>
            </a:r>
            <a:endParaRPr lang="en-US" sz="1600" dirty="0"/>
          </a:p>
        </p:txBody>
      </p:sp>
      <p:pic>
        <p:nvPicPr>
          <p:cNvPr id="11" name="Image 5" descr="https://kimi-img.moonshot.cn/pub/slides/slides_tmpl/image/25-09-05-17:30:59-d2tarktnfo2stf9djju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960000">
            <a:off x="10334625" y="495300"/>
            <a:ext cx="1123315" cy="1028065"/>
          </a:xfrm>
          <a:prstGeom prst="rect">
            <a:avLst/>
          </a:prstGeom>
        </p:spPr>
      </p:pic>
      <p:pic>
        <p:nvPicPr>
          <p:cNvPr id="27" name="图片 26" descr="deepseek_mermaid_20251123_c419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59865"/>
            <a:ext cx="12192000" cy="393827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17-d2sggve1bb2p4onbono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45615" y="1824990"/>
            <a:ext cx="10120630" cy="439547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7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path path="circle">
              <a:fillToRect l="100000" t="100000"/>
            </a:path>
            <a:tileRect r="-100000" b="-100000"/>
          </a:gradFill>
        </p:spPr>
      </p:sp>
      <p:sp>
        <p:nvSpPr>
          <p:cNvPr id="4" name="Text 1"/>
          <p:cNvSpPr/>
          <p:nvPr/>
        </p:nvSpPr>
        <p:spPr>
          <a:xfrm>
            <a:off x="1745615" y="1824990"/>
            <a:ext cx="10120630" cy="43954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41020" y="532130"/>
            <a:ext cx="10993120" cy="979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三大挑战与对应策略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177791" y="3709209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8518526" y="3709209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</p:sp>
      <p:pic>
        <p:nvPicPr>
          <p:cNvPr id="8" name="Image 1" descr="https://kimi-img.moonshot.cn/pub/slides/slides_tmpl/image/25-09-04-11:33:08-d2sggt61bb2p4onbon5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660000">
            <a:off x="859790" y="1539875"/>
            <a:ext cx="1212850" cy="1104900"/>
          </a:xfrm>
          <a:prstGeom prst="rect">
            <a:avLst/>
          </a:prstGeom>
        </p:spPr>
      </p:pic>
      <p:pic>
        <p:nvPicPr>
          <p:cNvPr id="9" name="Image 2" descr="https://kimi-img.moonshot.cn/pub/slides/slides_tmpl/image/25-09-04-11:33:06-d2sggsm1bb2p4onbon0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6860" y="2763520"/>
            <a:ext cx="534670" cy="537210"/>
          </a:xfrm>
          <a:prstGeom prst="rect">
            <a:avLst/>
          </a:prstGeom>
        </p:spPr>
      </p:pic>
      <p:pic>
        <p:nvPicPr>
          <p:cNvPr id="10" name="Image 3" descr="https://kimi-img.moonshot.cn/pub/slides/slides_tmpl/image/25-09-04-11:33:17-d2sggve1bb2p4onbonm0.png"/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 rot="1080000">
            <a:off x="-203835" y="4772025"/>
            <a:ext cx="852805" cy="2002790"/>
          </a:xfrm>
          <a:prstGeom prst="rect">
            <a:avLst/>
          </a:prstGeom>
        </p:spPr>
      </p:pic>
      <p:pic>
        <p:nvPicPr>
          <p:cNvPr id="11" name="Image 4" descr="https://kimi-img.moonshot.cn/pub/slides/slides_tmpl/image/25-09-04-11:33:04-d2sggs61bb2p4onbomu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2246630" y="2352040"/>
            <a:ext cx="2514600" cy="7867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医疗信息结构化提取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2268855" y="3138805"/>
            <a:ext cx="2513965" cy="29876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采用定制化OCR后处理与规则+AI混合算法，解决医疗文档格式多样、信息非结构化的挑战。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5568950" y="2359025"/>
            <a:ext cx="2514600" cy="7867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多智能体协同一致性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5591175" y="3145790"/>
            <a:ext cx="2513965" cy="29800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引入分布式事务、消息队列与状态快照，确保智能体间状态同步与数据一致性。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8852535" y="2379345"/>
            <a:ext cx="2514600" cy="7867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隐私安全与合规性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8874760" y="3166110"/>
            <a:ext cx="2513965" cy="29597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实施端到端加密存储、数据最小化与合规流程，保障健康数据的敏感性和安全性。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9-d2sggte1bb2p4onbon7g.jpg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1:33:18-d2sggvm1bb2p4onbonp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75" y="2244725"/>
            <a:ext cx="10607675" cy="4876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1660" y="532130"/>
            <a:ext cx="10479405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全栈技术选型与关键能力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11406074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1406074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11406074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406074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11406074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1406074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82270" y="2431415"/>
            <a:ext cx="2515235" cy="701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577FD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后端技术栈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49580" y="3046730"/>
            <a:ext cx="2461895" cy="27260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后端以FastMCP+A2AServer为核心，集成FastAPI、SQLAlchemy、Pydantic，支持DeepSeek、智谱等模型，数据库采用PostgreSQL加向量记忆</a:t>
            </a:r>
            <a:r>
              <a:rPr lang="zh-CN" alt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、</a:t>
            </a:r>
            <a:r>
              <a:rPr lang="en-US" altLang="zh-CN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Docker Compose</a:t>
            </a:r>
            <a:r>
              <a:rPr lang="zh-CN" alt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进行部署。</a:t>
            </a:r>
            <a:endParaRPr lang="zh-CN" altLang="en-US" sz="1400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3340100" y="1816100"/>
            <a:ext cx="2515235" cy="701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577FD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前端技术栈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407410" y="2431415"/>
            <a:ext cx="2461895" cy="27260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前端用</a:t>
            </a:r>
            <a:r>
              <a:rPr lang="zh-CN" alt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微信小程序</a:t>
            </a: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285865" y="1816100"/>
            <a:ext cx="2515235" cy="701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577FD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OCR技术实现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353175" y="2431415"/>
            <a:ext cx="2461895" cy="27260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深度集成阿里云OCR服务，通过定制化预处理管道和多语言支持，提升医疗文档识别的准确性和效率。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9217660" y="2431415"/>
            <a:ext cx="2515235" cy="701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577FD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实时通信机制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9284970" y="3046730"/>
            <a:ext cx="2461895" cy="27260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采用WebSocket长连接保活和SSE实时推送，确保数据的即时传递和交互，提升用户体验。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12-d2sggu61bb2p4onbone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1:33:12-d2sggu61bb2p4onbon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290" y="2486660"/>
            <a:ext cx="9105265" cy="391604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30860" y="1240155"/>
            <a:ext cx="11169650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三阶段路线与创新价值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09-04-11:33:04-d2sggs61bb2p4onbomu0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2" name="Image 3" descr="https://kimi-img.moonshot.cn/pub/slides/slides_tmpl/image/25-09-04-11:33:15-d2sgguu1bb2p4onbonh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10" y="4102100"/>
            <a:ext cx="2884170" cy="1807845"/>
          </a:xfrm>
          <a:prstGeom prst="rect">
            <a:avLst/>
          </a:prstGeom>
        </p:spPr>
      </p:pic>
      <p:pic>
        <p:nvPicPr>
          <p:cNvPr id="13" name="Image 4" descr="https://kimi-img.moonshot.cn/pub/slides/slides_tmpl/image/25-09-04-11:33:09-d2sggte1bb2p4onbon6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040" y="3285490"/>
            <a:ext cx="262255" cy="263525"/>
          </a:xfrm>
          <a:prstGeom prst="rect">
            <a:avLst/>
          </a:prstGeom>
        </p:spPr>
      </p:pic>
      <p:pic>
        <p:nvPicPr>
          <p:cNvPr id="14" name="Image 5" descr="https://kimi-img.moonshot.cn/pub/slides/slides_tmpl/image/25-09-04-11:33:06-d2sggsm1bb2p4onbon1g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>
            <a:off x="785495" y="3761105"/>
            <a:ext cx="469900" cy="340995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 rot="16200000">
            <a:off x="379730" y="3850005"/>
            <a:ext cx="913765" cy="209550"/>
          </a:xfrm>
          <a:prstGeom prst="parallelogram">
            <a:avLst>
              <a:gd name="adj" fmla="val 38342"/>
            </a:avLst>
          </a:prstGeom>
          <a:solidFill>
            <a:srgbClr val="2F5BEE">
              <a:alpha val="34118"/>
            </a:srgbClr>
          </a:solidFill>
        </p:spPr>
      </p:sp>
      <p:sp>
        <p:nvSpPr>
          <p:cNvPr id="16" name="Text 8"/>
          <p:cNvSpPr/>
          <p:nvPr/>
        </p:nvSpPr>
        <p:spPr>
          <a:xfrm rot="16200000">
            <a:off x="379730" y="3850005"/>
            <a:ext cx="913765" cy="2095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9"/>
          <p:cNvSpPr/>
          <p:nvPr/>
        </p:nvSpPr>
        <p:spPr>
          <a:xfrm rot="16200000" flipV="1">
            <a:off x="1584325" y="3179445"/>
            <a:ext cx="692150" cy="123190"/>
          </a:xfrm>
          <a:prstGeom prst="parallelogram">
            <a:avLst>
              <a:gd name="adj" fmla="val 38342"/>
            </a:avLst>
          </a:prstGeom>
          <a:solidFill>
            <a:srgbClr val="2F5BEE">
              <a:alpha val="12941"/>
            </a:srgbClr>
          </a:solidFill>
        </p:spPr>
      </p:sp>
      <p:sp>
        <p:nvSpPr>
          <p:cNvPr id="18" name="Text 10"/>
          <p:cNvSpPr/>
          <p:nvPr/>
        </p:nvSpPr>
        <p:spPr>
          <a:xfrm rot="16200000">
            <a:off x="1584325" y="3179445"/>
            <a:ext cx="692150" cy="12319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1"/>
          <p:cNvSpPr/>
          <p:nvPr/>
        </p:nvSpPr>
        <p:spPr>
          <a:xfrm rot="16200000" flipV="1">
            <a:off x="1781175" y="3522345"/>
            <a:ext cx="692150" cy="76200"/>
          </a:xfrm>
          <a:prstGeom prst="parallelogram">
            <a:avLst>
              <a:gd name="adj" fmla="val 38342"/>
            </a:avLst>
          </a:prstGeom>
          <a:solidFill>
            <a:srgbClr val="4B8BF7">
              <a:alpha val="45882"/>
            </a:srgbClr>
          </a:solidFill>
        </p:spPr>
      </p:sp>
      <p:sp>
        <p:nvSpPr>
          <p:cNvPr id="20" name="Text 12"/>
          <p:cNvSpPr/>
          <p:nvPr/>
        </p:nvSpPr>
        <p:spPr>
          <a:xfrm rot="16200000">
            <a:off x="1781175" y="3522345"/>
            <a:ext cx="692150" cy="76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Text 13"/>
          <p:cNvSpPr/>
          <p:nvPr>
            <p:custDataLst>
              <p:tags r:id="rId7"/>
            </p:custDataLst>
          </p:nvPr>
        </p:nvSpPr>
        <p:spPr>
          <a:xfrm>
            <a:off x="3370580" y="3075940"/>
            <a:ext cx="3712210" cy="8305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577FD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开发路线图</a:t>
            </a:r>
            <a:endParaRPr lang="en-US" sz="1600" dirty="0"/>
          </a:p>
        </p:txBody>
      </p:sp>
      <p:sp>
        <p:nvSpPr>
          <p:cNvPr id="22" name="Text 14"/>
          <p:cNvSpPr/>
          <p:nvPr>
            <p:custDataLst>
              <p:tags r:id="rId8"/>
            </p:custDataLst>
          </p:nvPr>
        </p:nvSpPr>
        <p:spPr>
          <a:xfrm>
            <a:off x="3512820" y="3658870"/>
            <a:ext cx="3385820" cy="26936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第一阶段完成A2A-MCP框架、OCR集成与数据模型；</a:t>
            </a:r>
            <a:r>
              <a:rPr lang="zh-CN" alt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（已完成）</a:t>
            </a:r>
            <a:endParaRPr lang="en-US" sz="1400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第二阶段实现多智能体协同、健康咨询与用药提醒；</a:t>
            </a:r>
            <a:r>
              <a:rPr lang="zh-CN" alt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（进行中）</a:t>
            </a:r>
            <a:endParaRPr lang="en-US" sz="1400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第三阶段交付就诊摘要、移动端适配与性能优化。</a:t>
            </a:r>
            <a:endParaRPr lang="en-US" sz="1600" dirty="0"/>
          </a:p>
        </p:txBody>
      </p:sp>
      <p:sp>
        <p:nvSpPr>
          <p:cNvPr id="23" name="Text 15"/>
          <p:cNvSpPr/>
          <p:nvPr>
            <p:custDataLst>
              <p:tags r:id="rId9"/>
            </p:custDataLst>
          </p:nvPr>
        </p:nvSpPr>
        <p:spPr>
          <a:xfrm>
            <a:off x="7479665" y="3075940"/>
            <a:ext cx="3712210" cy="8305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577FD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项目创新价值</a:t>
            </a:r>
            <a:endParaRPr lang="en-US" sz="1600" dirty="0"/>
          </a:p>
        </p:txBody>
      </p:sp>
      <p:sp>
        <p:nvSpPr>
          <p:cNvPr id="24" name="Text 16"/>
          <p:cNvSpPr/>
          <p:nvPr>
            <p:custDataLst>
              <p:tags r:id="rId10"/>
            </p:custDataLst>
          </p:nvPr>
        </p:nvSpPr>
        <p:spPr>
          <a:xfrm>
            <a:off x="7621905" y="3658870"/>
            <a:ext cx="3385820" cy="26936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项目首次将A2A架构应用于健康场景，通过MCP标准化接口与多模态处理，提升个人健康管理效率、医患沟通质量并降低信息成本。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19-d2sggvu1bb2p4onbonq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40"/>
            <a:ext cx="12192000" cy="68554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9100" y="2726690"/>
            <a:ext cx="7735570" cy="180467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46000"/>
                </a:srgbClr>
              </a:gs>
              <a:gs pos="30000">
                <a:srgbClr val="F9FBFD">
                  <a:alpha val="69000"/>
                </a:srgbClr>
              </a:gs>
              <a:gs pos="8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</p:spPr>
      </p:sp>
      <p:sp>
        <p:nvSpPr>
          <p:cNvPr id="4" name="Text 1"/>
          <p:cNvSpPr/>
          <p:nvPr/>
        </p:nvSpPr>
        <p:spPr>
          <a:xfrm>
            <a:off x="419100" y="2726690"/>
            <a:ext cx="7735570" cy="18046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32359" y="810670"/>
            <a:ext cx="209306" cy="42231"/>
          </a:xfrm>
          <a:prstGeom prst="rect">
            <a:avLst/>
          </a:prstGeom>
          <a:solidFill>
            <a:srgbClr val="808080"/>
          </a:solidFill>
          <a:ln w="19050">
            <a:solidFill>
              <a:srgbClr val="80808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2359" y="81067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2359" y="907644"/>
            <a:ext cx="209306" cy="42231"/>
          </a:xfrm>
          <a:prstGeom prst="rect">
            <a:avLst/>
          </a:prstGeom>
          <a:solidFill>
            <a:srgbClr val="808080"/>
          </a:solidFill>
          <a:ln w="19050">
            <a:solidFill>
              <a:srgbClr val="8080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2359" y="90764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32359" y="1004618"/>
            <a:ext cx="209306" cy="42231"/>
          </a:xfrm>
          <a:prstGeom prst="rect">
            <a:avLst/>
          </a:prstGeom>
          <a:solidFill>
            <a:srgbClr val="808080"/>
          </a:solidFill>
          <a:ln w="19050">
            <a:solidFill>
              <a:srgbClr val="8080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2359" y="100461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1" name="Image 1" descr="https://kimi-img.moonshot.cn/pub/slides/slides_tmpl/image/25-09-04-11:33:04-d2sggs61bb2p4onbomu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16200000">
            <a:off x="10665460" y="330200"/>
            <a:ext cx="262890" cy="11703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6745" y="5819775"/>
            <a:ext cx="4345305" cy="33147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3" name="Text 9"/>
          <p:cNvSpPr/>
          <p:nvPr/>
        </p:nvSpPr>
        <p:spPr>
          <a:xfrm>
            <a:off x="626745" y="5819775"/>
            <a:ext cx="4345305" cy="33147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汇报人：</a:t>
            </a:r>
            <a:r>
              <a:rPr lang="zh-CN" alt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马佳辉</a:t>
            </a:r>
            <a:endParaRPr lang="zh-CN" altLang="en-US" sz="16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7211695" y="5819775"/>
            <a:ext cx="4448810" cy="36639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汇报日期：2025/11/25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099607" y="5982681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Shape 12"/>
          <p:cNvSpPr/>
          <p:nvPr/>
        </p:nvSpPr>
        <p:spPr>
          <a:xfrm>
            <a:off x="626745" y="3463290"/>
            <a:ext cx="11033760" cy="89344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7" name="Text 13"/>
          <p:cNvSpPr/>
          <p:nvPr/>
        </p:nvSpPr>
        <p:spPr>
          <a:xfrm>
            <a:off x="626745" y="3463290"/>
            <a:ext cx="11033760" cy="893445"/>
          </a:xfrm>
          <a:prstGeom prst="rect">
            <a:avLst/>
          </a:prstGeom>
          <a:noFill/>
        </p:spPr>
        <p:txBody>
          <a:bodyPr wrap="square" lIns="45720" tIns="91440" rIns="91440" bIns="45720" rtlCol="0" anchor="b"/>
          <a:lstStyle/>
          <a:p>
            <a:pPr>
              <a:lnSpc>
                <a:spcPct val="130000"/>
              </a:lnSpc>
            </a:pPr>
            <a:r>
              <a:rPr lang="en-US" sz="5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感谢您的观看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26745" y="2541905"/>
            <a:ext cx="11033760" cy="89344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9" name="Text 15"/>
          <p:cNvSpPr/>
          <p:nvPr/>
        </p:nvSpPr>
        <p:spPr>
          <a:xfrm>
            <a:off x="626745" y="2541905"/>
            <a:ext cx="11033760" cy="893445"/>
          </a:xfrm>
          <a:prstGeom prst="rect">
            <a:avLst/>
          </a:prstGeom>
          <a:noFill/>
        </p:spPr>
        <p:txBody>
          <a:bodyPr wrap="square" lIns="45720" tIns="91440" rIns="91440" bIns="45720" rtlCol="0" anchor="b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577FD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THANK YOU FOR READING！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380.6,&quot;left&quot;:34.95,&quot;top&quot;:122.85,&quot;width&quot;:894.35}"/>
</p:tagLst>
</file>

<file path=ppt/tags/tag2.xml><?xml version="1.0" encoding="utf-8"?>
<p:tagLst xmlns:p="http://schemas.openxmlformats.org/presentationml/2006/main">
  <p:tag name="KSO_WM_DIAGRAM_VIRTUALLY_FRAME" val="{&quot;height&quot;:380.6,&quot;left&quot;:34.95,&quot;top&quot;:122.85,&quot;width&quot;:894.35}"/>
</p:tagLst>
</file>

<file path=ppt/tags/tag3.xml><?xml version="1.0" encoding="utf-8"?>
<p:tagLst xmlns:p="http://schemas.openxmlformats.org/presentationml/2006/main">
  <p:tag name="KSO_WM_DIAGRAM_VIRTUALLY_FRAME" val="{&quot;height&quot;:380.6,&quot;left&quot;:34.95,&quot;top&quot;:122.85,&quot;width&quot;:894.35}"/>
</p:tagLst>
</file>

<file path=ppt/tags/tag4.xml><?xml version="1.0" encoding="utf-8"?>
<p:tagLst xmlns:p="http://schemas.openxmlformats.org/presentationml/2006/main">
  <p:tag name="KSO_WM_DIAGRAM_VIRTUALLY_FRAME" val="{&quot;height&quot;:380.6,&quot;left&quot;:34.95,&quot;top&quot;:122.85,&quot;width&quot;:894.35}"/>
</p:tagLst>
</file>

<file path=ppt/tags/tag5.xml><?xml version="1.0" encoding="utf-8"?>
<p:tagLst xmlns:p="http://schemas.openxmlformats.org/presentationml/2006/main">
  <p:tag name="KSO_WM_DIAGRAM_VIRTUALLY_FRAME" val="{&quot;height&quot;:380.6,&quot;left&quot;:34.95,&quot;top&quot;:122.85,&quot;width&quot;:894.35}"/>
</p:tagLst>
</file>

<file path=ppt/tags/tag6.xml><?xml version="1.0" encoding="utf-8"?>
<p:tagLst xmlns:p="http://schemas.openxmlformats.org/presentationml/2006/main">
  <p:tag name="KSO_WM_DIAGRAM_VIRTUALLY_FRAME" val="{&quot;height&quot;:380.6,&quot;left&quot;:34.95,&quot;top&quot;:122.85,&quot;width&quot;:894.35}"/>
</p:tagLst>
</file>

<file path=ppt/tags/tag7.xml><?xml version="1.0" encoding="utf-8"?>
<p:tagLst xmlns:p="http://schemas.openxmlformats.org/presentationml/2006/main">
  <p:tag name="KSO_WM_DIAGRAM_VIRTUALLY_FRAME" val="{&quot;height&quot;:380.6,&quot;left&quot;:34.95,&quot;top&quot;:122.85,&quot;width&quot;:894.35}"/>
</p:tagLst>
</file>

<file path=ppt/tags/tag8.xml><?xml version="1.0" encoding="utf-8"?>
<p:tagLst xmlns:p="http://schemas.openxmlformats.org/presentationml/2006/main">
  <p:tag name="KSO_WM_DIAGRAM_VIRTUALLY_FRAME" val="{&quot;height&quot;:380.6,&quot;left&quot;:34.95,&quot;top&quot;:122.85,&quot;width&quot;:894.35}"/>
</p:tagLst>
</file>

<file path=ppt/tags/tag9.xml><?xml version="1.0" encoding="utf-8"?>
<p:tagLst xmlns:p="http://schemas.openxmlformats.org/presentationml/2006/main">
  <p:tag name="KSO_WM_DIAGRAM_VIRTUALLY_FRAME" val="{&quot;height&quot;:380.6,&quot;left&quot;:34.95,&quot;top&quot;:122.85,&quot;width&quot;:894.35}"/>
</p:tagLst>
</file>

<file path=ppt/tags/tag10.xml><?xml version="1.0" encoding="utf-8"?>
<p:tagLst xmlns:p="http://schemas.openxmlformats.org/presentationml/2006/main">
  <p:tag name="KSO_WM_DIAGRAM_VIRTUALLY_FRAME" val="{&quot;height&quot;:380.6,&quot;left&quot;:34.95,&quot;top&quot;:122.85,&quot;width&quot;:894.35}"/>
</p:tagLst>
</file>

<file path=ppt/tags/tag11.xml><?xml version="1.0" encoding="utf-8"?>
<p:tagLst xmlns:p="http://schemas.openxmlformats.org/presentationml/2006/main">
  <p:tag name="KSO_WM_DIAGRAM_VIRTUALLY_FRAME" val="{&quot;height&quot;:380.6,&quot;left&quot;:34.95,&quot;top&quot;:122.85,&quot;width&quot;:894.35}"/>
</p:tagLst>
</file>

<file path=ppt/tags/tag12.xml><?xml version="1.0" encoding="utf-8"?>
<p:tagLst xmlns:p="http://schemas.openxmlformats.org/presentationml/2006/main">
  <p:tag name="KSO_WM_DIAGRAM_VIRTUALLY_FRAME" val="{&quot;height&quot;:380.6,&quot;left&quot;:34.95,&quot;top&quot;:122.85,&quot;width&quot;:894.35}"/>
</p:tagLst>
</file>

<file path=ppt/tags/tag13.xml><?xml version="1.0" encoding="utf-8"?>
<p:tagLst xmlns:p="http://schemas.openxmlformats.org/presentationml/2006/main">
  <p:tag name="KSO_WM_DIAGRAM_VIRTUALLY_FRAME" val="{&quot;height&quot;:380.6,&quot;left&quot;:34.95,&quot;top&quot;:122.85,&quot;width&quot;:894.35}"/>
</p:tagLst>
</file>

<file path=ppt/tags/tag14.xml><?xml version="1.0" encoding="utf-8"?>
<p:tagLst xmlns:p="http://schemas.openxmlformats.org/presentationml/2006/main">
  <p:tag name="KSO_WM_DIAGRAM_VIRTUALLY_FRAME" val="{&quot;height&quot;:380.6,&quot;left&quot;:34.95,&quot;top&quot;:122.85,&quot;width&quot;:894.35}"/>
</p:tagLst>
</file>

<file path=ppt/tags/tag15.xml><?xml version="1.0" encoding="utf-8"?>
<p:tagLst xmlns:p="http://schemas.openxmlformats.org/presentationml/2006/main">
  <p:tag name="KSO_WM_DIAGRAM_VIRTUALLY_FRAME" val="{&quot;height&quot;:380.6,&quot;left&quot;:34.95,&quot;top&quot;:122.85,&quot;width&quot;:894.35}"/>
</p:tagLst>
</file>

<file path=ppt/tags/tag16.xml><?xml version="1.0" encoding="utf-8"?>
<p:tagLst xmlns:p="http://schemas.openxmlformats.org/presentationml/2006/main">
  <p:tag name="KSO_WM_DIAGRAM_VIRTUALLY_FRAME" val="{&quot;height&quot;:380.6,&quot;left&quot;:34.95,&quot;top&quot;:122.85,&quot;width&quot;:894.35}"/>
</p:tagLst>
</file>

<file path=ppt/tags/tag17.xml><?xml version="1.0" encoding="utf-8"?>
<p:tagLst xmlns:p="http://schemas.openxmlformats.org/presentationml/2006/main">
  <p:tag name="KSO_WM_DIAGRAM_VIRTUALLY_FRAME" val="{&quot;height&quot;:380.6,&quot;left&quot;:34.95,&quot;top&quot;:122.85,&quot;width&quot;:894.35}"/>
</p:tagLst>
</file>

<file path=ppt/tags/tag18.xml><?xml version="1.0" encoding="utf-8"?>
<p:tagLst xmlns:p="http://schemas.openxmlformats.org/presentationml/2006/main">
  <p:tag name="KSO_WM_DIAGRAM_VIRTUALLY_FRAME" val="{&quot;height&quot;:380.6,&quot;left&quot;:34.95,&quot;top&quot;:122.85,&quot;width&quot;:894.35}"/>
</p:tagLst>
</file>

<file path=ppt/tags/tag19.xml><?xml version="1.0" encoding="utf-8"?>
<p:tagLst xmlns:p="http://schemas.openxmlformats.org/presentationml/2006/main">
  <p:tag name="KSO_WM_DIAGRAM_VIRTUALLY_FRAME" val="{&quot;height&quot;:380.6,&quot;left&quot;:34.95,&quot;top&quot;:122.85,&quot;width&quot;:894.35}"/>
</p:tagLst>
</file>

<file path=ppt/tags/tag20.xml><?xml version="1.0" encoding="utf-8"?>
<p:tagLst xmlns:p="http://schemas.openxmlformats.org/presentationml/2006/main">
  <p:tag name="KSO_WM_DIAGRAM_VIRTUALLY_FRAME" val="{&quot;height&quot;:380.6,&quot;left&quot;:34.95,&quot;top&quot;:122.85,&quot;width&quot;:894.35}"/>
</p:tagLst>
</file>

<file path=ppt/tags/tag21.xml><?xml version="1.0" encoding="utf-8"?>
<p:tagLst xmlns:p="http://schemas.openxmlformats.org/presentationml/2006/main">
  <p:tag name="KSO_WM_DIAGRAM_VIRTUALLY_FRAME" val="{&quot;height&quot;:258,&quot;left&quot;:265.4,&quot;top&quot;:242.2,&quot;width&quot;:615.85}"/>
</p:tagLst>
</file>

<file path=ppt/tags/tag22.xml><?xml version="1.0" encoding="utf-8"?>
<p:tagLst xmlns:p="http://schemas.openxmlformats.org/presentationml/2006/main">
  <p:tag name="KSO_WM_DIAGRAM_VIRTUALLY_FRAME" val="{&quot;height&quot;:258,&quot;left&quot;:265.4,&quot;top&quot;:242.2,&quot;width&quot;:615.85}"/>
</p:tagLst>
</file>

<file path=ppt/tags/tag23.xml><?xml version="1.0" encoding="utf-8"?>
<p:tagLst xmlns:p="http://schemas.openxmlformats.org/presentationml/2006/main">
  <p:tag name="KSO_WM_DIAGRAM_VIRTUALLY_FRAME" val="{&quot;height&quot;:258,&quot;left&quot;:265.4,&quot;top&quot;:242.2,&quot;width&quot;:615.85}"/>
</p:tagLst>
</file>

<file path=ppt/tags/tag24.xml><?xml version="1.0" encoding="utf-8"?>
<p:tagLst xmlns:p="http://schemas.openxmlformats.org/presentationml/2006/main">
  <p:tag name="KSO_WM_DIAGRAM_VIRTUALLY_FRAME" val="{&quot;height&quot;:258,&quot;left&quot;:265.4,&quot;top&quot;:242.2,&quot;width&quot;:615.85}"/>
</p:tagLst>
</file>

<file path=ppt/tags/tag25.xml><?xml version="1.0" encoding="utf-8"?>
<p:tagLst xmlns:p="http://schemas.openxmlformats.org/presentationml/2006/main">
  <p:tag name="resource_record_key" val="{&quot;70&quot;:[3318475,3325816]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2358</Words>
  <Application>WPS 演示</Application>
  <PresentationFormat>On-screen Show (16:9)</PresentationFormat>
  <Paragraphs>206</Paragraphs>
  <Slides>14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宋体</vt:lpstr>
      <vt:lpstr>Wingdings</vt:lpstr>
      <vt:lpstr>MiSans</vt:lpstr>
      <vt:lpstr>MiSans</vt:lpstr>
      <vt:lpstr>Noto Sans SC</vt:lpstr>
      <vt:lpstr>Noto Sans SC</vt:lpstr>
      <vt:lpstr>Calibri</vt:lpstr>
      <vt:lpstr>微软雅黑</vt:lpstr>
      <vt:lpstr>Arial Unicode MS</vt:lpstr>
      <vt:lpstr>等线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A2A-MCP个人智能健康助手开题报告</dc:title>
  <dc:creator>Kimi</dc:creator>
  <dc:subject>A2A-MCP个人智能健康助手开题报告</dc:subject>
  <cp:lastModifiedBy>冷辉</cp:lastModifiedBy>
  <cp:revision>11</cp:revision>
  <dcterms:created xsi:type="dcterms:W3CDTF">2025-11-23T06:53:00Z</dcterms:created>
  <dcterms:modified xsi:type="dcterms:W3CDTF">2025-11-26T02:07:36Z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{"Label":"A2A-MCP个人智能健康助手开题报告","ContentProducer":"001191110108MACG2KBH8F10000","ProduceID":"d4gpvnro7or5dmku5fh0","ReservedCode1":"","ContentPropagator":"001191110108MACG2KBH8F20000","PropagateID":"d4gpvnro7or5dmku5fh0","ReservedCode2":""}</vt:lpwstr>
  </property>
  <property fmtid="{D5CDD505-2E9C-101B-9397-08002B2CF9AE}" pid="3" name="ICV">
    <vt:lpwstr>144B7DAE71B04CC1AEF5696D8112CB4D_12</vt:lpwstr>
  </property>
  <property fmtid="{D5CDD505-2E9C-101B-9397-08002B2CF9AE}" pid="4" name="KSOProductBuildVer">
    <vt:lpwstr>2052-12.1.0.23542</vt:lpwstr>
  </property>
</Properties>
</file>